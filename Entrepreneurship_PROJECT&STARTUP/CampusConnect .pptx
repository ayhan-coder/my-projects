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M Sans Bold" charset="1" panose="00000000000000000000"/>
      <p:regular r:id="rId12"/>
    </p:embeddedFont>
    <p:embeddedFont>
      <p:font typeface="Canva Sans Bold" charset="1" panose="020B0803030501040103"/>
      <p:regular r:id="rId13"/>
    </p:embeddedFont>
    <p:embeddedFont>
      <p:font typeface="Canva Sans" charset="1" panose="020B0503030501040103"/>
      <p:regular r:id="rId14"/>
    </p:embeddedFont>
    <p:embeddedFont>
      <p:font typeface="DM Sans Bold Italics" charset="1" panose="00000000000000000000"/>
      <p:regular r:id="rId15"/>
    </p:embeddedFont>
    <p:embeddedFont>
      <p:font typeface="DM Sans" charset="1" panose="00000000000000000000"/>
      <p:regular r:id="rId16"/>
    </p:embeddedFont>
    <p:embeddedFont>
      <p:font typeface="DM Sans Italic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52947" y="-148053"/>
            <a:ext cx="10435053" cy="10435053"/>
          </a:xfrm>
          <a:custGeom>
            <a:avLst/>
            <a:gdLst/>
            <a:ahLst/>
            <a:cxnLst/>
            <a:rect r="r" b="b" t="t" l="l"/>
            <a:pathLst>
              <a:path h="10435053" w="10435053">
                <a:moveTo>
                  <a:pt x="0" y="0"/>
                </a:moveTo>
                <a:lnTo>
                  <a:pt x="10435053" y="0"/>
                </a:lnTo>
                <a:lnTo>
                  <a:pt x="10435053" y="10435053"/>
                </a:lnTo>
                <a:lnTo>
                  <a:pt x="0" y="10435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7865" y="1171575"/>
            <a:ext cx="6845082" cy="495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960"/>
              </a:lnSpc>
            </a:pPr>
            <a:r>
              <a:rPr lang="en-US" sz="12000" b="true">
                <a:solidFill>
                  <a:srgbClr val="222934"/>
                </a:solidFill>
                <a:latin typeface="DM Sans Bold"/>
                <a:ea typeface="DM Sans Bold"/>
                <a:cs typeface="DM Sans Bold"/>
                <a:sym typeface="DM Sans Bold"/>
              </a:rPr>
              <a:t>Start-Up Pitch Deck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83630"/>
            <a:ext cx="6824247" cy="64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5"/>
              </a:lnSpc>
            </a:pPr>
            <a:r>
              <a:rPr lang="en-US" sz="4625" b="true">
                <a:solidFill>
                  <a:srgbClr val="222934"/>
                </a:solidFill>
                <a:latin typeface="DM Sans Bold"/>
                <a:ea typeface="DM Sans Bold"/>
                <a:cs typeface="DM Sans Bold"/>
                <a:sym typeface="DM Sans Bold"/>
              </a:rPr>
              <a:t>by Campus Connect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67767"/>
            <a:ext cx="8261380" cy="11022535"/>
            <a:chOff x="0" y="0"/>
            <a:chExt cx="2175837" cy="29030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5837" cy="2903054"/>
            </a:xfrm>
            <a:custGeom>
              <a:avLst/>
              <a:gdLst/>
              <a:ahLst/>
              <a:cxnLst/>
              <a:rect r="r" b="b" t="t" l="l"/>
              <a:pathLst>
                <a:path h="2903054" w="2175837">
                  <a:moveTo>
                    <a:pt x="47793" y="0"/>
                  </a:moveTo>
                  <a:lnTo>
                    <a:pt x="2128043" y="0"/>
                  </a:lnTo>
                  <a:cubicBezTo>
                    <a:pt x="2154439" y="0"/>
                    <a:pt x="2175837" y="21398"/>
                    <a:pt x="2175837" y="47793"/>
                  </a:cubicBezTo>
                  <a:lnTo>
                    <a:pt x="2175837" y="2855261"/>
                  </a:lnTo>
                  <a:cubicBezTo>
                    <a:pt x="2175837" y="2881657"/>
                    <a:pt x="2154439" y="2903054"/>
                    <a:pt x="2128043" y="2903054"/>
                  </a:cubicBezTo>
                  <a:lnTo>
                    <a:pt x="47793" y="2903054"/>
                  </a:lnTo>
                  <a:cubicBezTo>
                    <a:pt x="21398" y="2903054"/>
                    <a:pt x="0" y="2881657"/>
                    <a:pt x="0" y="2855261"/>
                  </a:cubicBezTo>
                  <a:lnTo>
                    <a:pt x="0" y="47793"/>
                  </a:lnTo>
                  <a:cubicBezTo>
                    <a:pt x="0" y="21398"/>
                    <a:pt x="21398" y="0"/>
                    <a:pt x="47793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75837" cy="2979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22293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Students and E-Commerce Grows Together in Türkiye</a:t>
              </a:r>
            </a:p>
            <a:p>
              <a:pPr algn="ctr">
                <a:lnSpc>
                  <a:spcPts val="5880"/>
                </a:lnSpc>
              </a:pP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22293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Turkey's 7.08 million university students, spending 400-650 EUR monthly with 91% smartphone adoption, represent an underserved segment in the rapidly growing e-commerce market (25.18% CAGR) dominated by generic platforms charging 15-23% commissions.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23880" y="335168"/>
            <a:ext cx="6708675" cy="4302407"/>
          </a:xfrm>
          <a:custGeom>
            <a:avLst/>
            <a:gdLst/>
            <a:ahLst/>
            <a:cxnLst/>
            <a:rect r="r" b="b" t="t" l="l"/>
            <a:pathLst>
              <a:path h="4302407" w="6708675">
                <a:moveTo>
                  <a:pt x="0" y="0"/>
                </a:moveTo>
                <a:lnTo>
                  <a:pt x="6708675" y="0"/>
                </a:lnTo>
                <a:lnTo>
                  <a:pt x="6708675" y="4302407"/>
                </a:lnTo>
                <a:lnTo>
                  <a:pt x="0" y="4302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261380" y="5143500"/>
            <a:ext cx="10773214" cy="5511267"/>
            <a:chOff x="0" y="0"/>
            <a:chExt cx="2837390" cy="14515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390" cy="1451527"/>
            </a:xfrm>
            <a:custGeom>
              <a:avLst/>
              <a:gdLst/>
              <a:ahLst/>
              <a:cxnLst/>
              <a:rect r="r" b="b" t="t" l="l"/>
              <a:pathLst>
                <a:path h="1451527" w="2837390">
                  <a:moveTo>
                    <a:pt x="0" y="0"/>
                  </a:moveTo>
                  <a:lnTo>
                    <a:pt x="2837390" y="0"/>
                  </a:lnTo>
                  <a:lnTo>
                    <a:pt x="2837390" y="1451527"/>
                  </a:lnTo>
                  <a:lnTo>
                    <a:pt x="0" y="1451527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37390" cy="1489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23880" y="5812656"/>
            <a:ext cx="6708675" cy="4172956"/>
          </a:xfrm>
          <a:custGeom>
            <a:avLst/>
            <a:gdLst/>
            <a:ahLst/>
            <a:cxnLst/>
            <a:rect r="r" b="b" t="t" l="l"/>
            <a:pathLst>
              <a:path h="4172956" w="6708675">
                <a:moveTo>
                  <a:pt x="0" y="0"/>
                </a:moveTo>
                <a:lnTo>
                  <a:pt x="6708675" y="0"/>
                </a:lnTo>
                <a:lnTo>
                  <a:pt x="6708675" y="4172956"/>
                </a:lnTo>
                <a:lnTo>
                  <a:pt x="0" y="4172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919539" cy="10367083"/>
          </a:xfrm>
          <a:custGeom>
            <a:avLst/>
            <a:gdLst/>
            <a:ahLst/>
            <a:cxnLst/>
            <a:rect r="r" b="b" t="t" l="l"/>
            <a:pathLst>
              <a:path h="10367083" w="6919539">
                <a:moveTo>
                  <a:pt x="0" y="0"/>
                </a:moveTo>
                <a:lnTo>
                  <a:pt x="6919539" y="0"/>
                </a:lnTo>
                <a:lnTo>
                  <a:pt x="6919539" y="10367083"/>
                </a:lnTo>
                <a:lnTo>
                  <a:pt x="0" y="10367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589952" y="4614502"/>
            <a:ext cx="10236823" cy="1348084"/>
            <a:chOff x="0" y="0"/>
            <a:chExt cx="2612240" cy="3440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12240" cy="344005"/>
            </a:xfrm>
            <a:custGeom>
              <a:avLst/>
              <a:gdLst/>
              <a:ahLst/>
              <a:cxnLst/>
              <a:rect r="r" b="b" t="t" l="l"/>
              <a:pathLst>
                <a:path h="344005" w="2612240">
                  <a:moveTo>
                    <a:pt x="38570" y="0"/>
                  </a:moveTo>
                  <a:lnTo>
                    <a:pt x="2573670" y="0"/>
                  </a:lnTo>
                  <a:cubicBezTo>
                    <a:pt x="2594972" y="0"/>
                    <a:pt x="2612240" y="17269"/>
                    <a:pt x="2612240" y="38570"/>
                  </a:cubicBezTo>
                  <a:lnTo>
                    <a:pt x="2612240" y="305435"/>
                  </a:lnTo>
                  <a:cubicBezTo>
                    <a:pt x="2612240" y="315664"/>
                    <a:pt x="2608176" y="325475"/>
                    <a:pt x="2600943" y="332708"/>
                  </a:cubicBezTo>
                  <a:cubicBezTo>
                    <a:pt x="2593710" y="339941"/>
                    <a:pt x="2583899" y="344005"/>
                    <a:pt x="2573670" y="344005"/>
                  </a:cubicBezTo>
                  <a:lnTo>
                    <a:pt x="38570" y="344005"/>
                  </a:lnTo>
                  <a:cubicBezTo>
                    <a:pt x="28341" y="344005"/>
                    <a:pt x="18530" y="339941"/>
                    <a:pt x="11297" y="332708"/>
                  </a:cubicBezTo>
                  <a:cubicBezTo>
                    <a:pt x="4064" y="325475"/>
                    <a:pt x="0" y="315664"/>
                    <a:pt x="0" y="305435"/>
                  </a:cubicBezTo>
                  <a:lnTo>
                    <a:pt x="0" y="38570"/>
                  </a:lnTo>
                  <a:cubicBezTo>
                    <a:pt x="0" y="28341"/>
                    <a:pt x="4064" y="18530"/>
                    <a:pt x="11297" y="11297"/>
                  </a:cubicBezTo>
                  <a:cubicBezTo>
                    <a:pt x="18530" y="4064"/>
                    <a:pt x="28341" y="0"/>
                    <a:pt x="3857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612240" cy="391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229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 buy, sell, and rent student-specific items (textbooks, notes, equipment) easily and affordably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589952" y="1104900"/>
            <a:ext cx="9669348" cy="278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  <a:spcBef>
                <a:spcPct val="0"/>
              </a:spcBef>
            </a:pPr>
            <a:r>
              <a:rPr lang="en-US" b="true" sz="673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What are university students trying to get done on campus?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89952" y="6173837"/>
            <a:ext cx="10236823" cy="1348084"/>
            <a:chOff x="0" y="0"/>
            <a:chExt cx="2612240" cy="3440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12240" cy="344005"/>
            </a:xfrm>
            <a:custGeom>
              <a:avLst/>
              <a:gdLst/>
              <a:ahLst/>
              <a:cxnLst/>
              <a:rect r="r" b="b" t="t" l="l"/>
              <a:pathLst>
                <a:path h="344005" w="2612240">
                  <a:moveTo>
                    <a:pt x="38570" y="0"/>
                  </a:moveTo>
                  <a:lnTo>
                    <a:pt x="2573670" y="0"/>
                  </a:lnTo>
                  <a:cubicBezTo>
                    <a:pt x="2594972" y="0"/>
                    <a:pt x="2612240" y="17269"/>
                    <a:pt x="2612240" y="38570"/>
                  </a:cubicBezTo>
                  <a:lnTo>
                    <a:pt x="2612240" y="305435"/>
                  </a:lnTo>
                  <a:cubicBezTo>
                    <a:pt x="2612240" y="315664"/>
                    <a:pt x="2608176" y="325475"/>
                    <a:pt x="2600943" y="332708"/>
                  </a:cubicBezTo>
                  <a:cubicBezTo>
                    <a:pt x="2593710" y="339941"/>
                    <a:pt x="2583899" y="344005"/>
                    <a:pt x="2573670" y="344005"/>
                  </a:cubicBezTo>
                  <a:lnTo>
                    <a:pt x="38570" y="344005"/>
                  </a:lnTo>
                  <a:cubicBezTo>
                    <a:pt x="28341" y="344005"/>
                    <a:pt x="18530" y="339941"/>
                    <a:pt x="11297" y="332708"/>
                  </a:cubicBezTo>
                  <a:cubicBezTo>
                    <a:pt x="4064" y="325475"/>
                    <a:pt x="0" y="315664"/>
                    <a:pt x="0" y="305435"/>
                  </a:cubicBezTo>
                  <a:lnTo>
                    <a:pt x="0" y="38570"/>
                  </a:lnTo>
                  <a:cubicBezTo>
                    <a:pt x="0" y="28341"/>
                    <a:pt x="4064" y="18530"/>
                    <a:pt x="11297" y="11297"/>
                  </a:cubicBezTo>
                  <a:cubicBezTo>
                    <a:pt x="18530" y="4064"/>
                    <a:pt x="28341" y="0"/>
                    <a:pt x="3857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12240" cy="391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2229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 connect with verified peers from their own university for social events, study</a:t>
              </a:r>
            </a:p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229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groups, and dating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89952" y="7730409"/>
            <a:ext cx="10236823" cy="1348084"/>
            <a:chOff x="0" y="0"/>
            <a:chExt cx="2612240" cy="3440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12240" cy="344005"/>
            </a:xfrm>
            <a:custGeom>
              <a:avLst/>
              <a:gdLst/>
              <a:ahLst/>
              <a:cxnLst/>
              <a:rect r="r" b="b" t="t" l="l"/>
              <a:pathLst>
                <a:path h="344005" w="2612240">
                  <a:moveTo>
                    <a:pt x="38570" y="0"/>
                  </a:moveTo>
                  <a:lnTo>
                    <a:pt x="2573670" y="0"/>
                  </a:lnTo>
                  <a:cubicBezTo>
                    <a:pt x="2594972" y="0"/>
                    <a:pt x="2612240" y="17269"/>
                    <a:pt x="2612240" y="38570"/>
                  </a:cubicBezTo>
                  <a:lnTo>
                    <a:pt x="2612240" y="305435"/>
                  </a:lnTo>
                  <a:cubicBezTo>
                    <a:pt x="2612240" y="315664"/>
                    <a:pt x="2608176" y="325475"/>
                    <a:pt x="2600943" y="332708"/>
                  </a:cubicBezTo>
                  <a:cubicBezTo>
                    <a:pt x="2593710" y="339941"/>
                    <a:pt x="2583899" y="344005"/>
                    <a:pt x="2573670" y="344005"/>
                  </a:cubicBezTo>
                  <a:lnTo>
                    <a:pt x="38570" y="344005"/>
                  </a:lnTo>
                  <a:cubicBezTo>
                    <a:pt x="28341" y="344005"/>
                    <a:pt x="18530" y="339941"/>
                    <a:pt x="11297" y="332708"/>
                  </a:cubicBezTo>
                  <a:cubicBezTo>
                    <a:pt x="4064" y="325475"/>
                    <a:pt x="0" y="315664"/>
                    <a:pt x="0" y="305435"/>
                  </a:cubicBezTo>
                  <a:lnTo>
                    <a:pt x="0" y="38570"/>
                  </a:lnTo>
                  <a:cubicBezTo>
                    <a:pt x="0" y="28341"/>
                    <a:pt x="4064" y="18530"/>
                    <a:pt x="11297" y="11297"/>
                  </a:cubicBezTo>
                  <a:cubicBezTo>
                    <a:pt x="18530" y="4064"/>
                    <a:pt x="28341" y="0"/>
                    <a:pt x="3857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612240" cy="391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2229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 avoid the risk and high costs of dealing with anonymous users and generic</a:t>
              </a:r>
            </a:p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229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nationwide platforms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1445819"/>
            <a:chOff x="0" y="0"/>
            <a:chExt cx="4274726" cy="380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80792"/>
            </a:xfrm>
            <a:custGeom>
              <a:avLst/>
              <a:gdLst/>
              <a:ahLst/>
              <a:cxnLst/>
              <a:rect r="r" b="b" t="t" l="l"/>
              <a:pathLst>
                <a:path h="38079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56465"/>
                  </a:lnTo>
                  <a:cubicBezTo>
                    <a:pt x="4274726" y="369900"/>
                    <a:pt x="4263834" y="380792"/>
                    <a:pt x="4250399" y="380792"/>
                  </a:cubicBezTo>
                  <a:lnTo>
                    <a:pt x="24327" y="380792"/>
                  </a:lnTo>
                  <a:cubicBezTo>
                    <a:pt x="10891" y="380792"/>
                    <a:pt x="0" y="369900"/>
                    <a:pt x="0" y="35646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274726" cy="51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080"/>
                </a:lnSpc>
              </a:pPr>
              <a:r>
                <a:rPr lang="en-US" b="true" sz="7200">
                  <a:solidFill>
                    <a:srgbClr val="2229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Core Pain Points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038779"/>
            <a:ext cx="7733290" cy="2889952"/>
            <a:chOff x="0" y="0"/>
            <a:chExt cx="2036751" cy="761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6751" cy="761140"/>
            </a:xfrm>
            <a:custGeom>
              <a:avLst/>
              <a:gdLst/>
              <a:ahLst/>
              <a:cxnLst/>
              <a:rect r="r" b="b" t="t" l="l"/>
              <a:pathLst>
                <a:path h="761140" w="2036751">
                  <a:moveTo>
                    <a:pt x="51057" y="0"/>
                  </a:moveTo>
                  <a:lnTo>
                    <a:pt x="1985694" y="0"/>
                  </a:lnTo>
                  <a:cubicBezTo>
                    <a:pt x="1999236" y="0"/>
                    <a:pt x="2012222" y="5379"/>
                    <a:pt x="2021797" y="14954"/>
                  </a:cubicBezTo>
                  <a:cubicBezTo>
                    <a:pt x="2031372" y="24529"/>
                    <a:pt x="2036751" y="37516"/>
                    <a:pt x="2036751" y="51057"/>
                  </a:cubicBezTo>
                  <a:lnTo>
                    <a:pt x="2036751" y="710083"/>
                  </a:lnTo>
                  <a:cubicBezTo>
                    <a:pt x="2036751" y="723624"/>
                    <a:pt x="2031372" y="736610"/>
                    <a:pt x="2021797" y="746186"/>
                  </a:cubicBezTo>
                  <a:cubicBezTo>
                    <a:pt x="2012222" y="755761"/>
                    <a:pt x="1999236" y="761140"/>
                    <a:pt x="1985694" y="761140"/>
                  </a:cubicBezTo>
                  <a:lnTo>
                    <a:pt x="51057" y="761140"/>
                  </a:lnTo>
                  <a:cubicBezTo>
                    <a:pt x="37516" y="761140"/>
                    <a:pt x="24529" y="755761"/>
                    <a:pt x="14954" y="746186"/>
                  </a:cubicBezTo>
                  <a:cubicBezTo>
                    <a:pt x="5379" y="736610"/>
                    <a:pt x="0" y="723624"/>
                    <a:pt x="0" y="710083"/>
                  </a:cubicBezTo>
                  <a:lnTo>
                    <a:pt x="0" y="51057"/>
                  </a:lnTo>
                  <a:cubicBezTo>
                    <a:pt x="0" y="37516"/>
                    <a:pt x="5379" y="24529"/>
                    <a:pt x="14954" y="14954"/>
                  </a:cubicBezTo>
                  <a:cubicBezTo>
                    <a:pt x="24529" y="5379"/>
                    <a:pt x="37516" y="0"/>
                    <a:pt x="51057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036751" cy="827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 i="true">
                  <a:solidFill>
                    <a:srgbClr val="000000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High Costs &amp; Fees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Generic C2C platforms charge steep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commissions (15–23%) and high shipping costs, directly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impacting students’ limited finances.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6010" y="3038779"/>
            <a:ext cx="7733290" cy="2889952"/>
            <a:chOff x="0" y="0"/>
            <a:chExt cx="2036751" cy="761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6751" cy="761140"/>
            </a:xfrm>
            <a:custGeom>
              <a:avLst/>
              <a:gdLst/>
              <a:ahLst/>
              <a:cxnLst/>
              <a:rect r="r" b="b" t="t" l="l"/>
              <a:pathLst>
                <a:path h="761140" w="2036751">
                  <a:moveTo>
                    <a:pt x="51057" y="0"/>
                  </a:moveTo>
                  <a:lnTo>
                    <a:pt x="1985694" y="0"/>
                  </a:lnTo>
                  <a:cubicBezTo>
                    <a:pt x="1999236" y="0"/>
                    <a:pt x="2012222" y="5379"/>
                    <a:pt x="2021797" y="14954"/>
                  </a:cubicBezTo>
                  <a:cubicBezTo>
                    <a:pt x="2031372" y="24529"/>
                    <a:pt x="2036751" y="37516"/>
                    <a:pt x="2036751" y="51057"/>
                  </a:cubicBezTo>
                  <a:lnTo>
                    <a:pt x="2036751" y="710083"/>
                  </a:lnTo>
                  <a:cubicBezTo>
                    <a:pt x="2036751" y="723624"/>
                    <a:pt x="2031372" y="736610"/>
                    <a:pt x="2021797" y="746186"/>
                  </a:cubicBezTo>
                  <a:cubicBezTo>
                    <a:pt x="2012222" y="755761"/>
                    <a:pt x="1999236" y="761140"/>
                    <a:pt x="1985694" y="761140"/>
                  </a:cubicBezTo>
                  <a:lnTo>
                    <a:pt x="51057" y="761140"/>
                  </a:lnTo>
                  <a:cubicBezTo>
                    <a:pt x="37516" y="761140"/>
                    <a:pt x="24529" y="755761"/>
                    <a:pt x="14954" y="746186"/>
                  </a:cubicBezTo>
                  <a:cubicBezTo>
                    <a:pt x="5379" y="736610"/>
                    <a:pt x="0" y="723624"/>
                    <a:pt x="0" y="710083"/>
                  </a:cubicBezTo>
                  <a:lnTo>
                    <a:pt x="0" y="51057"/>
                  </a:lnTo>
                  <a:cubicBezTo>
                    <a:pt x="0" y="37516"/>
                    <a:pt x="5379" y="24529"/>
                    <a:pt x="14954" y="14954"/>
                  </a:cubicBezTo>
                  <a:cubicBezTo>
                    <a:pt x="24529" y="5379"/>
                    <a:pt x="37516" y="0"/>
                    <a:pt x="51057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36751" cy="827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 i="true">
                  <a:solidFill>
                    <a:srgbClr val="000000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Lack of Trust &amp; Safety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Open platforms with unverified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users create low-trust environments for both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transactions and meetups.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6368348"/>
            <a:ext cx="7733290" cy="2973512"/>
            <a:chOff x="0" y="0"/>
            <a:chExt cx="2036751" cy="7831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6751" cy="783147"/>
            </a:xfrm>
            <a:custGeom>
              <a:avLst/>
              <a:gdLst/>
              <a:ahLst/>
              <a:cxnLst/>
              <a:rect r="r" b="b" t="t" l="l"/>
              <a:pathLst>
                <a:path h="783147" w="2036751">
                  <a:moveTo>
                    <a:pt x="51057" y="0"/>
                  </a:moveTo>
                  <a:lnTo>
                    <a:pt x="1985694" y="0"/>
                  </a:lnTo>
                  <a:cubicBezTo>
                    <a:pt x="1999236" y="0"/>
                    <a:pt x="2012222" y="5379"/>
                    <a:pt x="2021797" y="14954"/>
                  </a:cubicBezTo>
                  <a:cubicBezTo>
                    <a:pt x="2031372" y="24529"/>
                    <a:pt x="2036751" y="37516"/>
                    <a:pt x="2036751" y="51057"/>
                  </a:cubicBezTo>
                  <a:lnTo>
                    <a:pt x="2036751" y="732090"/>
                  </a:lnTo>
                  <a:cubicBezTo>
                    <a:pt x="2036751" y="745631"/>
                    <a:pt x="2031372" y="758618"/>
                    <a:pt x="2021797" y="768193"/>
                  </a:cubicBezTo>
                  <a:cubicBezTo>
                    <a:pt x="2012222" y="777768"/>
                    <a:pt x="1999236" y="783147"/>
                    <a:pt x="1985694" y="783147"/>
                  </a:cubicBezTo>
                  <a:lnTo>
                    <a:pt x="51057" y="783147"/>
                  </a:lnTo>
                  <a:cubicBezTo>
                    <a:pt x="37516" y="783147"/>
                    <a:pt x="24529" y="777768"/>
                    <a:pt x="14954" y="768193"/>
                  </a:cubicBezTo>
                  <a:cubicBezTo>
                    <a:pt x="5379" y="758618"/>
                    <a:pt x="0" y="745631"/>
                    <a:pt x="0" y="732090"/>
                  </a:cubicBezTo>
                  <a:lnTo>
                    <a:pt x="0" y="51057"/>
                  </a:lnTo>
                  <a:cubicBezTo>
                    <a:pt x="0" y="37516"/>
                    <a:pt x="5379" y="24529"/>
                    <a:pt x="14954" y="14954"/>
                  </a:cubicBezTo>
                  <a:cubicBezTo>
                    <a:pt x="24529" y="5379"/>
                    <a:pt x="37516" y="0"/>
                    <a:pt x="51057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036751" cy="849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 i="true">
                  <a:solidFill>
                    <a:srgbClr val="000000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Fragmented Experience</a:t>
              </a:r>
            </a:p>
            <a:p>
              <a:pPr algn="l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Students juggle multiple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apps—Trendyol for e-commerce, others for social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needs—creating an inconvenient campus experience.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6010" y="6368348"/>
            <a:ext cx="7733290" cy="2889952"/>
            <a:chOff x="0" y="0"/>
            <a:chExt cx="2036751" cy="761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6751" cy="761140"/>
            </a:xfrm>
            <a:custGeom>
              <a:avLst/>
              <a:gdLst/>
              <a:ahLst/>
              <a:cxnLst/>
              <a:rect r="r" b="b" t="t" l="l"/>
              <a:pathLst>
                <a:path h="761140" w="2036751">
                  <a:moveTo>
                    <a:pt x="51057" y="0"/>
                  </a:moveTo>
                  <a:lnTo>
                    <a:pt x="1985694" y="0"/>
                  </a:lnTo>
                  <a:cubicBezTo>
                    <a:pt x="1999236" y="0"/>
                    <a:pt x="2012222" y="5379"/>
                    <a:pt x="2021797" y="14954"/>
                  </a:cubicBezTo>
                  <a:cubicBezTo>
                    <a:pt x="2031372" y="24529"/>
                    <a:pt x="2036751" y="37516"/>
                    <a:pt x="2036751" y="51057"/>
                  </a:cubicBezTo>
                  <a:lnTo>
                    <a:pt x="2036751" y="710083"/>
                  </a:lnTo>
                  <a:cubicBezTo>
                    <a:pt x="2036751" y="723624"/>
                    <a:pt x="2031372" y="736610"/>
                    <a:pt x="2021797" y="746186"/>
                  </a:cubicBezTo>
                  <a:cubicBezTo>
                    <a:pt x="2012222" y="755761"/>
                    <a:pt x="1999236" y="761140"/>
                    <a:pt x="1985694" y="761140"/>
                  </a:cubicBezTo>
                  <a:lnTo>
                    <a:pt x="51057" y="761140"/>
                  </a:lnTo>
                  <a:cubicBezTo>
                    <a:pt x="37516" y="761140"/>
                    <a:pt x="24529" y="755761"/>
                    <a:pt x="14954" y="746186"/>
                  </a:cubicBezTo>
                  <a:cubicBezTo>
                    <a:pt x="5379" y="736610"/>
                    <a:pt x="0" y="723624"/>
                    <a:pt x="0" y="710083"/>
                  </a:cubicBezTo>
                  <a:lnTo>
                    <a:pt x="0" y="51057"/>
                  </a:lnTo>
                  <a:cubicBezTo>
                    <a:pt x="0" y="37516"/>
                    <a:pt x="5379" y="24529"/>
                    <a:pt x="14954" y="14954"/>
                  </a:cubicBezTo>
                  <a:cubicBezTo>
                    <a:pt x="24529" y="5379"/>
                    <a:pt x="37516" y="0"/>
                    <a:pt x="51057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36751" cy="827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 i="true">
                  <a:solidFill>
                    <a:srgbClr val="000000"/>
                  </a:solidFill>
                  <a:latin typeface="DM Sans Bold Italics"/>
                  <a:ea typeface="DM Sans Bold Italics"/>
                  <a:cs typeface="DM Sans Bold Italics"/>
                  <a:sym typeface="DM Sans Bold Italics"/>
                </a:rPr>
                <a:t>Unmet Niche Needs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Mainstream platforms don’t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support student-specific use cases like note-trading,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calculator rentals, or tutoring services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3924"/>
            <a:ext cx="18288000" cy="4573076"/>
          </a:xfrm>
          <a:custGeom>
            <a:avLst/>
            <a:gdLst/>
            <a:ahLst/>
            <a:cxnLst/>
            <a:rect r="r" b="b" t="t" l="l"/>
            <a:pathLst>
              <a:path h="4573076" w="18288000">
                <a:moveTo>
                  <a:pt x="0" y="0"/>
                </a:moveTo>
                <a:lnTo>
                  <a:pt x="18288000" y="0"/>
                </a:lnTo>
                <a:lnTo>
                  <a:pt x="18288000" y="4573076"/>
                </a:lnTo>
                <a:lnTo>
                  <a:pt x="0" y="4573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857" r="0" b="-5457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51673" y="5143500"/>
            <a:ext cx="11384654" cy="1449590"/>
            <a:chOff x="0" y="0"/>
            <a:chExt cx="2998427" cy="3817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98427" cy="381785"/>
            </a:xfrm>
            <a:custGeom>
              <a:avLst/>
              <a:gdLst/>
              <a:ahLst/>
              <a:cxnLst/>
              <a:rect r="r" b="b" t="t" l="l"/>
              <a:pathLst>
                <a:path h="381785" w="2998427">
                  <a:moveTo>
                    <a:pt x="34682" y="0"/>
                  </a:moveTo>
                  <a:lnTo>
                    <a:pt x="2963746" y="0"/>
                  </a:lnTo>
                  <a:cubicBezTo>
                    <a:pt x="2982900" y="0"/>
                    <a:pt x="2998427" y="15527"/>
                    <a:pt x="2998427" y="34682"/>
                  </a:cubicBezTo>
                  <a:lnTo>
                    <a:pt x="2998427" y="347103"/>
                  </a:lnTo>
                  <a:cubicBezTo>
                    <a:pt x="2998427" y="356301"/>
                    <a:pt x="2994773" y="365123"/>
                    <a:pt x="2988269" y="371627"/>
                  </a:cubicBezTo>
                  <a:cubicBezTo>
                    <a:pt x="2981765" y="378131"/>
                    <a:pt x="2972944" y="381785"/>
                    <a:pt x="2963746" y="381785"/>
                  </a:cubicBezTo>
                  <a:lnTo>
                    <a:pt x="34682" y="381785"/>
                  </a:lnTo>
                  <a:cubicBezTo>
                    <a:pt x="15527" y="381785"/>
                    <a:pt x="0" y="366257"/>
                    <a:pt x="0" y="347103"/>
                  </a:cubicBezTo>
                  <a:lnTo>
                    <a:pt x="0" y="34682"/>
                  </a:lnTo>
                  <a:cubicBezTo>
                    <a:pt x="0" y="15527"/>
                    <a:pt x="15527" y="0"/>
                    <a:pt x="34682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2998427" cy="505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b="true" sz="6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Platform Limitations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80565" y="1028700"/>
            <a:ext cx="4926870" cy="3040990"/>
            <a:chOff x="0" y="0"/>
            <a:chExt cx="1297612" cy="8009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7612" cy="800919"/>
            </a:xfrm>
            <a:custGeom>
              <a:avLst/>
              <a:gdLst/>
              <a:ahLst/>
              <a:cxnLst/>
              <a:rect r="r" b="b" t="t" l="l"/>
              <a:pathLst>
                <a:path h="800919" w="1297612">
                  <a:moveTo>
                    <a:pt x="80140" y="0"/>
                  </a:moveTo>
                  <a:lnTo>
                    <a:pt x="1217472" y="0"/>
                  </a:lnTo>
                  <a:cubicBezTo>
                    <a:pt x="1238727" y="0"/>
                    <a:pt x="1259110" y="8443"/>
                    <a:pt x="1274139" y="23472"/>
                  </a:cubicBezTo>
                  <a:cubicBezTo>
                    <a:pt x="1289169" y="38501"/>
                    <a:pt x="1297612" y="58885"/>
                    <a:pt x="1297612" y="80140"/>
                  </a:cubicBezTo>
                  <a:lnTo>
                    <a:pt x="1297612" y="720779"/>
                  </a:lnTo>
                  <a:cubicBezTo>
                    <a:pt x="1297612" y="742034"/>
                    <a:pt x="1289169" y="762418"/>
                    <a:pt x="1274139" y="777447"/>
                  </a:cubicBezTo>
                  <a:cubicBezTo>
                    <a:pt x="1259110" y="792476"/>
                    <a:pt x="1238727" y="800919"/>
                    <a:pt x="1217472" y="800919"/>
                  </a:cubicBezTo>
                  <a:lnTo>
                    <a:pt x="80140" y="800919"/>
                  </a:lnTo>
                  <a:cubicBezTo>
                    <a:pt x="58885" y="800919"/>
                    <a:pt x="38501" y="792476"/>
                    <a:pt x="23472" y="777447"/>
                  </a:cubicBezTo>
                  <a:cubicBezTo>
                    <a:pt x="8443" y="762418"/>
                    <a:pt x="0" y="742034"/>
                    <a:pt x="0" y="720779"/>
                  </a:cubicBezTo>
                  <a:lnTo>
                    <a:pt x="0" y="80140"/>
                  </a:lnTo>
                  <a:cubicBezTo>
                    <a:pt x="0" y="58885"/>
                    <a:pt x="8443" y="38501"/>
                    <a:pt x="23472" y="23472"/>
                  </a:cubicBezTo>
                  <a:cubicBezTo>
                    <a:pt x="38501" y="8443"/>
                    <a:pt x="58885" y="0"/>
                    <a:pt x="8014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97612" cy="848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Main platforms (e.g., Dolap, Sahibinden.com) are generic and nationwide.</a:t>
              </a:r>
              <a:r>
                <a:rPr lang="en-US" sz="2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They aren’t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designed for local, campus-based exchanges—resulting in shipping, coordination, and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trust issues.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32430" y="1028700"/>
            <a:ext cx="4926870" cy="3040990"/>
            <a:chOff x="0" y="0"/>
            <a:chExt cx="1297612" cy="8009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7612" cy="800919"/>
            </a:xfrm>
            <a:custGeom>
              <a:avLst/>
              <a:gdLst/>
              <a:ahLst/>
              <a:cxnLst/>
              <a:rect r="r" b="b" t="t" l="l"/>
              <a:pathLst>
                <a:path h="800919" w="1297612">
                  <a:moveTo>
                    <a:pt x="80140" y="0"/>
                  </a:moveTo>
                  <a:lnTo>
                    <a:pt x="1217472" y="0"/>
                  </a:lnTo>
                  <a:cubicBezTo>
                    <a:pt x="1238727" y="0"/>
                    <a:pt x="1259110" y="8443"/>
                    <a:pt x="1274139" y="23472"/>
                  </a:cubicBezTo>
                  <a:cubicBezTo>
                    <a:pt x="1289169" y="38501"/>
                    <a:pt x="1297612" y="58885"/>
                    <a:pt x="1297612" y="80140"/>
                  </a:cubicBezTo>
                  <a:lnTo>
                    <a:pt x="1297612" y="720779"/>
                  </a:lnTo>
                  <a:cubicBezTo>
                    <a:pt x="1297612" y="742034"/>
                    <a:pt x="1289169" y="762418"/>
                    <a:pt x="1274139" y="777447"/>
                  </a:cubicBezTo>
                  <a:cubicBezTo>
                    <a:pt x="1259110" y="792476"/>
                    <a:pt x="1238727" y="800919"/>
                    <a:pt x="1217472" y="800919"/>
                  </a:cubicBezTo>
                  <a:lnTo>
                    <a:pt x="80140" y="800919"/>
                  </a:lnTo>
                  <a:cubicBezTo>
                    <a:pt x="58885" y="800919"/>
                    <a:pt x="38501" y="792476"/>
                    <a:pt x="23472" y="777447"/>
                  </a:cubicBezTo>
                  <a:cubicBezTo>
                    <a:pt x="8443" y="762418"/>
                    <a:pt x="0" y="742034"/>
                    <a:pt x="0" y="720779"/>
                  </a:cubicBezTo>
                  <a:lnTo>
                    <a:pt x="0" y="80140"/>
                  </a:lnTo>
                  <a:cubicBezTo>
                    <a:pt x="0" y="58885"/>
                    <a:pt x="8443" y="38501"/>
                    <a:pt x="23472" y="23472"/>
                  </a:cubicBezTo>
                  <a:cubicBezTo>
                    <a:pt x="38501" y="8443"/>
                    <a:pt x="58885" y="0"/>
                    <a:pt x="8014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97612" cy="848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They prioritize volume, not community.</a:t>
              </a:r>
              <a:r>
                <a:rPr lang="en-US" sz="2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Their business models focus on scale and high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fees, not on creating safe, tailored student environments.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9795" y="1147181"/>
            <a:ext cx="4926870" cy="2922509"/>
            <a:chOff x="0" y="0"/>
            <a:chExt cx="1297612" cy="7697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7612" cy="769714"/>
            </a:xfrm>
            <a:custGeom>
              <a:avLst/>
              <a:gdLst/>
              <a:ahLst/>
              <a:cxnLst/>
              <a:rect r="r" b="b" t="t" l="l"/>
              <a:pathLst>
                <a:path h="769714" w="1297612">
                  <a:moveTo>
                    <a:pt x="80140" y="0"/>
                  </a:moveTo>
                  <a:lnTo>
                    <a:pt x="1217472" y="0"/>
                  </a:lnTo>
                  <a:cubicBezTo>
                    <a:pt x="1238727" y="0"/>
                    <a:pt x="1259110" y="8443"/>
                    <a:pt x="1274139" y="23472"/>
                  </a:cubicBezTo>
                  <a:cubicBezTo>
                    <a:pt x="1289169" y="38501"/>
                    <a:pt x="1297612" y="58885"/>
                    <a:pt x="1297612" y="80140"/>
                  </a:cubicBezTo>
                  <a:lnTo>
                    <a:pt x="1297612" y="689574"/>
                  </a:lnTo>
                  <a:cubicBezTo>
                    <a:pt x="1297612" y="710829"/>
                    <a:pt x="1289169" y="731213"/>
                    <a:pt x="1274139" y="746242"/>
                  </a:cubicBezTo>
                  <a:cubicBezTo>
                    <a:pt x="1259110" y="761271"/>
                    <a:pt x="1238727" y="769714"/>
                    <a:pt x="1217472" y="769714"/>
                  </a:cubicBezTo>
                  <a:lnTo>
                    <a:pt x="80140" y="769714"/>
                  </a:lnTo>
                  <a:cubicBezTo>
                    <a:pt x="58885" y="769714"/>
                    <a:pt x="38501" y="761271"/>
                    <a:pt x="23472" y="746242"/>
                  </a:cubicBezTo>
                  <a:cubicBezTo>
                    <a:pt x="8443" y="731213"/>
                    <a:pt x="0" y="710829"/>
                    <a:pt x="0" y="689574"/>
                  </a:cubicBezTo>
                  <a:lnTo>
                    <a:pt x="0" y="80140"/>
                  </a:lnTo>
                  <a:cubicBezTo>
                    <a:pt x="0" y="58885"/>
                    <a:pt x="8443" y="38501"/>
                    <a:pt x="23472" y="23472"/>
                  </a:cubicBezTo>
                  <a:cubicBezTo>
                    <a:pt x="38501" y="8443"/>
                    <a:pt x="58885" y="0"/>
                    <a:pt x="8014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97612" cy="817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 integrated social features.</a:t>
              </a:r>
              <a:r>
                <a:rPr lang="en-US" sz="2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E-commerce platforms are purely transactional and miss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opportunity to foster real student community and connection.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483" y="0"/>
            <a:ext cx="9226483" cy="6513870"/>
            <a:chOff x="0" y="0"/>
            <a:chExt cx="2430020" cy="1715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0020" cy="1715587"/>
            </a:xfrm>
            <a:custGeom>
              <a:avLst/>
              <a:gdLst/>
              <a:ahLst/>
              <a:cxnLst/>
              <a:rect r="r" b="b" t="t" l="l"/>
              <a:pathLst>
                <a:path h="1715587" w="2430020">
                  <a:moveTo>
                    <a:pt x="0" y="0"/>
                  </a:moveTo>
                  <a:lnTo>
                    <a:pt x="2430020" y="0"/>
                  </a:lnTo>
                  <a:lnTo>
                    <a:pt x="2430020" y="1715587"/>
                  </a:lnTo>
                  <a:lnTo>
                    <a:pt x="0" y="1715587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30020" cy="1763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6172028" cy="4629021"/>
          </a:xfrm>
          <a:custGeom>
            <a:avLst/>
            <a:gdLst/>
            <a:ahLst/>
            <a:cxnLst/>
            <a:rect r="r" b="b" t="t" l="l"/>
            <a:pathLst>
              <a:path h="4629021" w="6172028">
                <a:moveTo>
                  <a:pt x="0" y="0"/>
                </a:moveTo>
                <a:lnTo>
                  <a:pt x="6172028" y="0"/>
                </a:lnTo>
                <a:lnTo>
                  <a:pt x="6172028" y="4629021"/>
                </a:lnTo>
                <a:lnTo>
                  <a:pt x="0" y="4629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36632" y="942425"/>
            <a:ext cx="5822668" cy="4629021"/>
          </a:xfrm>
          <a:custGeom>
            <a:avLst/>
            <a:gdLst/>
            <a:ahLst/>
            <a:cxnLst/>
            <a:rect r="r" b="b" t="t" l="l"/>
            <a:pathLst>
              <a:path h="4629021" w="5822668">
                <a:moveTo>
                  <a:pt x="0" y="0"/>
                </a:moveTo>
                <a:lnTo>
                  <a:pt x="5822668" y="0"/>
                </a:lnTo>
                <a:lnTo>
                  <a:pt x="5822668" y="4629021"/>
                </a:lnTo>
                <a:lnTo>
                  <a:pt x="0" y="4629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6513870"/>
            <a:ext cx="18288000" cy="3718190"/>
            <a:chOff x="0" y="0"/>
            <a:chExt cx="4816593" cy="9792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979276"/>
            </a:xfrm>
            <a:custGeom>
              <a:avLst/>
              <a:gdLst/>
              <a:ahLst/>
              <a:cxnLst/>
              <a:rect r="r" b="b" t="t" l="l"/>
              <a:pathLst>
                <a:path h="9792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79276"/>
                  </a:lnTo>
                  <a:lnTo>
                    <a:pt x="0" y="979276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816593" cy="1026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With the right investments on its development, Campus Connect have a potential to evolve into more broad e-commerce platform, not only for the students, but also for a wider customer base. However, at this stage, our target is university students in Türkiye.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305455" y="5760979"/>
            <a:ext cx="208502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i="true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Statista (2024).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1242" y="5760979"/>
            <a:ext cx="6026944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i="true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www.businessresearchcompany.com</a:t>
            </a:r>
            <a:r>
              <a:rPr lang="en-US" sz="2299" i="true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DAGuQ_chHQU</dc:identifier>
  <dcterms:modified xsi:type="dcterms:W3CDTF">2011-08-01T06:04:30Z</dcterms:modified>
  <cp:revision>1</cp:revision>
  <dc:title>CampusConnect </dc:title>
</cp:coreProperties>
</file>