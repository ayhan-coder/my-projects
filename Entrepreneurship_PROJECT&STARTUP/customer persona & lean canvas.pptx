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5"/>
  </p:notesMasterIdLst>
  <p:sldIdLst>
    <p:sldId id="256" r:id="rId2"/>
    <p:sldId id="260" r:id="rId3"/>
    <p:sldId id="990" r:id="rId4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C9AC1EB-BBF6-4567-8C71-87A6B99EB9C7}">
          <p14:sldIdLst>
            <p14:sldId id="256"/>
            <p14:sldId id="260"/>
          </p14:sldIdLst>
        </p14:section>
        <p14:section name="Untitled Section" id="{B70FEAFA-E99D-4C78-A071-A5793908BA13}">
          <p14:sldIdLst>
            <p14:sldId id="9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zzet darendeli" initials="id" lastIdx="1" clrIdx="0">
    <p:extLst>
      <p:ext uri="{19B8F6BF-5375-455C-9EA6-DF929625EA0E}">
        <p15:presenceInfo xmlns:p15="http://schemas.microsoft.com/office/powerpoint/2012/main" userId="36254bf110c8de4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43" autoAdjust="0"/>
    <p:restoredTop sz="95992" autoAdjust="0"/>
  </p:normalViewPr>
  <p:slideViewPr>
    <p:cSldViewPr>
      <p:cViewPr varScale="1">
        <p:scale>
          <a:sx n="102" d="100"/>
          <a:sy n="102" d="100"/>
        </p:scale>
        <p:origin x="31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36" y="-102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2294" tIns="46147" rIns="92294" bIns="46147" rtlCol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2294" tIns="46147" rIns="92294" bIns="46147" rtlCol="0"/>
          <a:lstStyle>
            <a:lvl1pPr algn="r">
              <a:defRPr sz="1100"/>
            </a:lvl1pPr>
          </a:lstStyle>
          <a:p>
            <a:fld id="{8CE11D51-D081-4812-8712-4CFDB8EBB0A6}" type="datetimeFigureOut">
              <a:rPr lang="en-US" smtClean="0"/>
              <a:pPr/>
              <a:t>8/2/2025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696913"/>
            <a:ext cx="46466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4" tIns="46147" rIns="92294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2294" tIns="46147" rIns="92294" bIns="4614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2294" tIns="46147" rIns="92294" bIns="46147" rtlCol="0" anchor="b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2294" tIns="46147" rIns="92294" bIns="46147" rtlCol="0" anchor="b"/>
          <a:lstStyle>
            <a:lvl1pPr algn="r">
              <a:defRPr sz="1100"/>
            </a:lvl1pPr>
          </a:lstStyle>
          <a:p>
            <a:fld id="{7E8B8C12-5386-48E4-BC07-2BBFD5BB34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9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c28740e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c28740e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8B8C12-5386-48E4-BC07-2BBFD5BB340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88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88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75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31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61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46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925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5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81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055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02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01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C6C86-F999-48DD-91C0-8BE7D556D61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E8C41-34BC-45AA-BB72-4630B4AE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2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splash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ixabay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521225" y="1457325"/>
            <a:ext cx="2689200" cy="359622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BIOGRAPHY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402825" y="5451500"/>
            <a:ext cx="8088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1" i="1">
                <a:solidFill>
                  <a:srgbClr val="FFFFFF"/>
                </a:solidFill>
              </a:rPr>
              <a:t>“Characteristic quote from person goes here…”</a:t>
            </a:r>
            <a:endParaRPr b="1" i="1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7100" y="3228975"/>
            <a:ext cx="1554600" cy="11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70000"/>
              </a:lnSpc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Age: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70000"/>
              </a:lnSpc>
            </a:pP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70000"/>
              </a:lnSpc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Family: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70000"/>
              </a:lnSpc>
            </a:pP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70000"/>
              </a:lnSpc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Work: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70000"/>
              </a:lnSpc>
            </a:pP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70000"/>
              </a:lnSpc>
            </a:pPr>
            <a:r>
              <a:rPr lang="e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Traits: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70000"/>
              </a:lnSpc>
            </a:pPr>
            <a:endParaRPr sz="1200" dirty="0">
              <a:solidFill>
                <a:srgbClr val="434343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72100" y="1456550"/>
            <a:ext cx="3486150" cy="17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GOALS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372100" y="3274725"/>
            <a:ext cx="3486150" cy="17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FRUSTRATIONS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7515225" y="5648325"/>
            <a:ext cx="14859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329950" y="1457325"/>
            <a:ext cx="1643700" cy="1642925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1000" i="1" dirty="0">
                <a:solidFill>
                  <a:srgbClr val="CCCCCC"/>
                </a:solidFill>
              </a:rPr>
              <a:t>For images for your customer persona we recommend </a:t>
            </a:r>
            <a:r>
              <a:rPr lang="en" sz="1000" i="1" u="sng" dirty="0">
                <a:solidFill>
                  <a:srgbClr val="CCCC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www.unsplash.com</a:t>
            </a:r>
            <a:r>
              <a:rPr lang="en" sz="1000" i="1" dirty="0">
                <a:solidFill>
                  <a:srgbClr val="CCCCCC"/>
                </a:solidFill>
              </a:rPr>
              <a:t> or </a:t>
            </a:r>
            <a:r>
              <a:rPr lang="en" sz="1000" i="1" u="sng" dirty="0">
                <a:solidFill>
                  <a:srgbClr val="CCCC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www.pixabay.com</a:t>
            </a:r>
            <a:endParaRPr dirty="0"/>
          </a:p>
        </p:txBody>
      </p:sp>
      <p:sp>
        <p:nvSpPr>
          <p:cNvPr id="62" name="Google Shape;62;p13"/>
          <p:cNvSpPr/>
          <p:nvPr/>
        </p:nvSpPr>
        <p:spPr>
          <a:xfrm>
            <a:off x="0" y="857250"/>
            <a:ext cx="9144000" cy="44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63" name="Google Shape;63;p13"/>
          <p:cNvSpPr/>
          <p:nvPr/>
        </p:nvSpPr>
        <p:spPr>
          <a:xfrm>
            <a:off x="0" y="5303000"/>
            <a:ext cx="9144000" cy="697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303625" y="4347075"/>
            <a:ext cx="910800" cy="2853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65" name="Google Shape;65;p13"/>
          <p:cNvSpPr/>
          <p:nvPr/>
        </p:nvSpPr>
        <p:spPr>
          <a:xfrm>
            <a:off x="1336550" y="4347075"/>
            <a:ext cx="910800" cy="2853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336550" y="4747625"/>
            <a:ext cx="910800" cy="2853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303625" y="4747625"/>
            <a:ext cx="910800" cy="2853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F76D-A4D9-EC64-C93E-EE5661388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353" y="1535170"/>
            <a:ext cx="6858000" cy="532263"/>
          </a:xfrm>
        </p:spPr>
        <p:txBody>
          <a:bodyPr>
            <a:normAutofit fontScale="90000"/>
          </a:bodyPr>
          <a:lstStyle/>
          <a:p>
            <a:r>
              <a:rPr lang="en-QA"/>
              <a:t>Customer </a:t>
            </a:r>
            <a:r>
              <a:rPr lang="en-US" dirty="0"/>
              <a:t>P</a:t>
            </a:r>
            <a:r>
              <a:rPr lang="en-QA"/>
              <a:t>ersona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64B6B-B4FA-7DBB-D879-337142F944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8428" y="3889426"/>
            <a:ext cx="3872348" cy="14334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/>
              <a:t>Ayşe Kaya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Age:</a:t>
            </a:r>
            <a:r>
              <a:rPr lang="en-US" sz="1500" dirty="0">
                <a:solidFill>
                  <a:srgbClr val="000000"/>
                </a:solidFill>
              </a:rPr>
              <a:t> 20</a:t>
            </a:r>
            <a:endParaRPr lang="en-US" sz="1500" dirty="0"/>
          </a:p>
          <a:p>
            <a:pPr marL="0" indent="0">
              <a:buNone/>
            </a:pPr>
            <a:r>
              <a:rPr lang="en-US" sz="1600" b="1" dirty="0"/>
              <a:t>Family &amp; Living Situation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Work:</a:t>
            </a:r>
            <a:r>
              <a:rPr lang="en-US" sz="1500" dirty="0">
                <a:solidFill>
                  <a:srgbClr val="000000"/>
                </a:solidFill>
              </a:rPr>
              <a:t> Part-time on-campus job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Traits:</a:t>
            </a:r>
            <a:endParaRPr lang="en-Q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913D8-29F3-A440-A2BA-C6306E190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0776" y="1946033"/>
            <a:ext cx="3368196" cy="33747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sz="1200" b="1" dirty="0">
                <a:solidFill>
                  <a:srgbClr val="000000"/>
                </a:solidFill>
              </a:rPr>
              <a:t>Biography</a:t>
            </a:r>
            <a:r>
              <a:rPr lang="en-US" sz="1200" dirty="0">
                <a:solidFill>
                  <a:srgbClr val="000000"/>
                </a:solidFill>
              </a:rPr>
              <a:t>: Grew up in Livermore, CA, was active in high school sports, now adjusting to the independence of college life.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endParaRPr lang="en-US" sz="12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sz="1200" b="1" dirty="0">
                <a:solidFill>
                  <a:srgbClr val="000000"/>
                </a:solidFill>
              </a:rPr>
              <a:t>Goals</a:t>
            </a:r>
            <a:r>
              <a:rPr lang="en-US" sz="1200" dirty="0">
                <a:solidFill>
                  <a:srgbClr val="000000"/>
                </a:solidFill>
              </a:rPr>
              <a:t>: Wants to establish a </a:t>
            </a:r>
            <a:r>
              <a:rPr lang="en-US" sz="1200" b="1" dirty="0">
                <a:solidFill>
                  <a:srgbClr val="000000"/>
                </a:solidFill>
              </a:rPr>
              <a:t>healthy routine </a:t>
            </a:r>
            <a:r>
              <a:rPr lang="en-US" sz="1200" dirty="0">
                <a:solidFill>
                  <a:srgbClr val="000000"/>
                </a:solidFill>
              </a:rPr>
              <a:t>that fits a busy academic schedule, improve sleep quality, maintain </a:t>
            </a:r>
            <a:r>
              <a:rPr lang="en-US" sz="1200" b="1" dirty="0">
                <a:solidFill>
                  <a:srgbClr val="000000"/>
                </a:solidFill>
              </a:rPr>
              <a:t>physical fitness </a:t>
            </a:r>
            <a:r>
              <a:rPr lang="en-US" sz="1200" dirty="0">
                <a:solidFill>
                  <a:srgbClr val="000000"/>
                </a:solidFill>
              </a:rPr>
              <a:t>and </a:t>
            </a:r>
            <a:r>
              <a:rPr lang="en-US" sz="1200" b="1" dirty="0">
                <a:solidFill>
                  <a:srgbClr val="000000"/>
                </a:solidFill>
              </a:rPr>
              <a:t>reduce stress </a:t>
            </a:r>
            <a:r>
              <a:rPr lang="en-US" sz="1200" dirty="0">
                <a:solidFill>
                  <a:srgbClr val="000000"/>
                </a:solidFill>
              </a:rPr>
              <a:t>through </a:t>
            </a:r>
            <a:r>
              <a:rPr lang="en-US" sz="1200" b="1" dirty="0">
                <a:solidFill>
                  <a:srgbClr val="000000"/>
                </a:solidFill>
              </a:rPr>
              <a:t>wellness practices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endParaRPr lang="en-US" sz="12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sz="1200" b="1" dirty="0">
                <a:solidFill>
                  <a:srgbClr val="000000"/>
                </a:solidFill>
              </a:rPr>
              <a:t>Frustrations</a:t>
            </a:r>
            <a:r>
              <a:rPr lang="en-US" sz="1200" dirty="0">
                <a:solidFill>
                  <a:srgbClr val="000000"/>
                </a:solidFill>
              </a:rPr>
              <a:t>: Feels overwhelmed by academic demands, struggles with maintaining a </a:t>
            </a:r>
            <a:r>
              <a:rPr lang="en-US" sz="1200" b="1" dirty="0">
                <a:solidFill>
                  <a:srgbClr val="000000"/>
                </a:solidFill>
              </a:rPr>
              <a:t>balanced diet</a:t>
            </a:r>
            <a:r>
              <a:rPr lang="en-US" sz="1200" dirty="0">
                <a:solidFill>
                  <a:srgbClr val="000000"/>
                </a:solidFill>
              </a:rPr>
              <a:t>, and finds it hard to </a:t>
            </a:r>
            <a:r>
              <a:rPr lang="en-US" sz="1200" b="1" dirty="0">
                <a:solidFill>
                  <a:srgbClr val="000000"/>
                </a:solidFill>
              </a:rPr>
              <a:t>fit exercise into his schedule</a:t>
            </a:r>
            <a:r>
              <a:rPr lang="en-US" sz="1200" dirty="0">
                <a:solidFill>
                  <a:srgbClr val="000000"/>
                </a:solidFill>
              </a:rPr>
              <a:t>. The lack of structure leads to </a:t>
            </a:r>
            <a:r>
              <a:rPr lang="en-US" sz="1200" b="1" dirty="0">
                <a:solidFill>
                  <a:srgbClr val="000000"/>
                </a:solidFill>
              </a:rPr>
              <a:t>poor sleep habits and inconsistent routines.</a:t>
            </a:r>
            <a:endParaRPr lang="en-US" sz="12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B0C74D-096F-A177-EC6C-AE285E356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572" y="2067433"/>
            <a:ext cx="1738930" cy="171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1B19B6-2A1D-379F-9A56-0B3F1EB5DDC0}"/>
              </a:ext>
            </a:extLst>
          </p:cNvPr>
          <p:cNvSpPr/>
          <p:nvPr/>
        </p:nvSpPr>
        <p:spPr>
          <a:xfrm>
            <a:off x="3164656" y="5044016"/>
            <a:ext cx="792422" cy="2570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T</a:t>
            </a:r>
            <a:r>
              <a:rPr lang="en-QA" sz="1050">
                <a:solidFill>
                  <a:schemeClr val="tx1"/>
                </a:solidFill>
              </a:rPr>
              <a:t>ech-savvy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EFC6DE-AAC5-6379-B93D-E7313B4EB8A5}"/>
              </a:ext>
            </a:extLst>
          </p:cNvPr>
          <p:cNvSpPr/>
          <p:nvPr/>
        </p:nvSpPr>
        <p:spPr>
          <a:xfrm>
            <a:off x="2553701" y="5044017"/>
            <a:ext cx="520901" cy="2570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S</a:t>
            </a:r>
            <a:r>
              <a:rPr lang="en-QA" sz="1050">
                <a:solidFill>
                  <a:schemeClr val="tx1"/>
                </a:solidFill>
              </a:rPr>
              <a:t>ocial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D816AB-6E8B-24FB-284F-399E6CC327D2}"/>
              </a:ext>
            </a:extLst>
          </p:cNvPr>
          <p:cNvSpPr/>
          <p:nvPr/>
        </p:nvSpPr>
        <p:spPr>
          <a:xfrm>
            <a:off x="1751097" y="5044017"/>
            <a:ext cx="712550" cy="2581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</a:rPr>
              <a:t>S</a:t>
            </a:r>
            <a:r>
              <a:rPr lang="en-QA" sz="1050">
                <a:solidFill>
                  <a:schemeClr val="tx1"/>
                </a:solidFill>
              </a:rPr>
              <a:t>tressed</a:t>
            </a:r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8DE8F5CA-5483-E58F-1A7D-F30F4120E1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84" b="25261"/>
          <a:stretch/>
        </p:blipFill>
        <p:spPr>
          <a:xfrm>
            <a:off x="8057374" y="5552734"/>
            <a:ext cx="1086626" cy="44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0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10114" y="943265"/>
            <a:ext cx="13564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9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Lean Canvas for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943263"/>
            <a:ext cx="2457450" cy="346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 defTabSz="685800"/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Project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0" y="943263"/>
            <a:ext cx="1314450" cy="1508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 defTabSz="685800"/>
            <a:r>
              <a:rPr lang="en-US" sz="900" dirty="0">
                <a:solidFill>
                  <a:prstClr val="black"/>
                </a:solidFill>
              </a:rPr>
              <a:t>01-Jan-2017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1138637"/>
            <a:ext cx="1314450" cy="1508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 defTabSz="685800"/>
            <a:r>
              <a:rPr lang="en-US" sz="900" dirty="0">
                <a:solidFill>
                  <a:prstClr val="black"/>
                </a:solidFill>
              </a:rPr>
              <a:t>Iteration #x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7301" y="4437786"/>
            <a:ext cx="3298531" cy="1296853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Cost Structure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Customer Acquisition costs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Distribution costs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Hosting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People, etc.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437787"/>
            <a:ext cx="3053761" cy="129685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Revenue Streams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Revenue Model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Life Time Value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Revenue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Gross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57300" y="1355345"/>
            <a:ext cx="1323594" cy="298189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Problem/untapped opportunity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Top 3 problems/opportunities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80894" y="1355345"/>
            <a:ext cx="1323594" cy="149094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Solution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80894" y="2846292"/>
            <a:ext cx="1323594" cy="149094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Key Metrics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Key activities you measure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3580" y="1355345"/>
            <a:ext cx="1323594" cy="298189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Unique Value Proposition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Competitive Advantages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07174" y="1355346"/>
            <a:ext cx="1323594" cy="1059546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Unfair Advantage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207174" y="3392483"/>
            <a:ext cx="1323594" cy="944756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Channels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  <a:p>
            <a:pPr defTabSz="685800"/>
            <a:r>
              <a:rPr lang="en-US" sz="900" dirty="0">
                <a:solidFill>
                  <a:prstClr val="black"/>
                </a:solidFill>
              </a:rPr>
              <a:t>Potential Partners, Collaborations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30768" y="1355345"/>
            <a:ext cx="1323594" cy="298189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cs typeface="Arial" pitchFamily="34" charset="0"/>
              </a:rPr>
              <a:t>Customer Segments</a:t>
            </a: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  <a:p>
            <a:pPr defTabSz="685800"/>
            <a:endParaRPr lang="en-US" sz="9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57300" y="1355344"/>
            <a:ext cx="6597062" cy="4645406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14313" indent="-84535" defTabSz="685800">
              <a:buFont typeface="Arial" pitchFamily="34" charset="0"/>
              <a:buChar char="•"/>
            </a:pPr>
            <a:endParaRPr lang="en-US" sz="900" dirty="0">
              <a:solidFill>
                <a:prstClr val="black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584202" y="5725042"/>
            <a:ext cx="64472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/>
            <a:r>
              <a:rPr lang="en-US" sz="900" dirty="0">
                <a:solidFill>
                  <a:srgbClr val="007DDA"/>
                </a:solidFill>
                <a:cs typeface="Arial" pitchFamily="34" charset="0"/>
              </a:rPr>
              <a:t>PRODUCT</a:t>
            </a:r>
            <a:endParaRPr lang="en-US" sz="900" dirty="0">
              <a:solidFill>
                <a:srgbClr val="007DDA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912388" y="5734640"/>
            <a:ext cx="58541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/>
            <a:r>
              <a:rPr lang="en-US" sz="900" dirty="0">
                <a:solidFill>
                  <a:srgbClr val="007DDA"/>
                </a:solidFill>
                <a:cs typeface="Arial" pitchFamily="34" charset="0"/>
              </a:rPr>
              <a:t>MARKET</a:t>
            </a:r>
            <a:endParaRPr lang="en-US" sz="900" dirty="0">
              <a:solidFill>
                <a:srgbClr val="007DDA"/>
              </a:solidFill>
            </a:endParaRPr>
          </a:p>
        </p:txBody>
      </p:sp>
      <p:cxnSp>
        <p:nvCxnSpPr>
          <p:cNvPr id="10" name="Straight Connector 9"/>
          <p:cNvCxnSpPr>
            <a:stCxn id="5" idx="2"/>
          </p:cNvCxnSpPr>
          <p:nvPr/>
        </p:nvCxnSpPr>
        <p:spPr>
          <a:xfrm flipV="1">
            <a:off x="4555831" y="1277216"/>
            <a:ext cx="0" cy="4723534"/>
          </a:xfrm>
          <a:prstGeom prst="line">
            <a:avLst/>
          </a:prstGeom>
          <a:ln w="19050" cap="rnd">
            <a:solidFill>
              <a:srgbClr val="007DDA">
                <a:alpha val="5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48600" y="6604084"/>
            <a:ext cx="15655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prstClr val="black"/>
                </a:solidFill>
              </a:rPr>
              <a:t>Dr. Darendeli, 2019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0" y="1298481"/>
            <a:ext cx="7196929" cy="3122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578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65694</TotalTime>
  <Words>226</Words>
  <Application>Microsoft Office PowerPoint</Application>
  <PresentationFormat>On-screen Show (4:3)</PresentationFormat>
  <Paragraphs>74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Customer Persona</vt:lpstr>
      <vt:lpstr>PowerPoint Presentation</vt:lpstr>
    </vt:vector>
  </TitlesOfParts>
  <Company>Harvard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  Global Business Policies (BA-4196) Fox School of Business and Management Spring 2009</dc:title>
  <dc:creator>izzet</dc:creator>
  <cp:lastModifiedBy>Ali Ayhan Günder</cp:lastModifiedBy>
  <cp:revision>422</cp:revision>
  <cp:lastPrinted>2019-03-29T00:26:26Z</cp:lastPrinted>
  <dcterms:created xsi:type="dcterms:W3CDTF">2009-01-20T13:54:20Z</dcterms:created>
  <dcterms:modified xsi:type="dcterms:W3CDTF">2025-08-02T20:12:36Z</dcterms:modified>
</cp:coreProperties>
</file>