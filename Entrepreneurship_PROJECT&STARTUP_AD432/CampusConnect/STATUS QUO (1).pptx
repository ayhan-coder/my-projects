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60" r:id="rId6"/>
    <p:sldId id="266" r:id="rId7"/>
    <p:sldId id="267" r:id="rId8"/>
    <p:sldId id="268" r:id="rId9"/>
    <p:sldId id="261" r:id="rId10"/>
    <p:sldId id="269" r:id="rId11"/>
    <p:sldId id="262" r:id="rId12"/>
    <p:sldId id="263" r:id="rId13"/>
    <p:sldId id="270" r:id="rId14"/>
    <p:sldId id="264" r:id="rId15"/>
  </p:sldIdLst>
  <p:sldSz cx="18288000" cy="10287000"/>
  <p:notesSz cx="6858000" cy="9144000"/>
  <p:embeddedFontLst>
    <p:embeddedFont>
      <p:font typeface="Poppins" panose="020B0502040204020203" pitchFamily="2" charset="0"/>
      <p:regular r:id="rId17"/>
      <p:bold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45131-C6D1-474E-8899-84A852DFA500}" type="datetimeFigureOut">
              <a:rPr lang="tr-TR" smtClean="0"/>
              <a:t>15.07.2025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4149A-EB65-4FB2-8AB2-1018674156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428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4149A-EB65-4FB2-8AB2-1018674156A5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4984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89CD-7AAC-D90F-3071-5C301441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31F3ACFF-3861-5A0A-D11C-8CBB9B61D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A71EF651-4523-D55B-DB7F-C33BB6957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8C8975F-6931-E320-0F8F-7316793FD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4149A-EB65-4FB2-8AB2-1018674156A5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6858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FD9B-9843-31E3-68C9-80DB3976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2DF376D1-3D93-EFEA-6002-DF8C9E5DC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4A9B971-0C36-D8CA-3758-E0741BC94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2AB93C5-0DB6-21E8-CD95-12E5A1FFB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4149A-EB65-4FB2-8AB2-1018674156A5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4249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6BF0-F4A2-1017-5D4C-721DDDA4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308117D4-F715-1699-13E5-81621F532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4509A8AA-DD9C-8CF8-2093-50DF2DF6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D467BA3-A6AB-ECC8-00B2-3C100444F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4149A-EB65-4FB2-8AB2-1018674156A5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643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DCFC-7D07-242B-66A3-86167728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DB47279-E375-183C-0076-83CEE015E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0D38C5E7-80C1-8BAE-CE18-E856388C0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B9C7016-9857-7385-9374-18A9F21AA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4149A-EB65-4FB2-8AB2-1018674156A5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514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028700" y="1628997"/>
            <a:ext cx="9592218" cy="16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78"/>
              </a:lnSpc>
            </a:pPr>
            <a:r>
              <a:rPr lang="en-US" sz="89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STATUS QUO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143249"/>
            <a:ext cx="9029733" cy="1200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Campus Connect</a:t>
            </a:r>
          </a:p>
          <a:p>
            <a:pPr algn="l">
              <a:lnSpc>
                <a:spcPts val="4706"/>
              </a:lnSpc>
            </a:pPr>
            <a:r>
              <a:rPr lang="en-US" sz="33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Ali Ayhan Güner and Kaan Yusuf Çotuk</a:t>
            </a:r>
          </a:p>
        </p:txBody>
      </p:sp>
      <p:pic>
        <p:nvPicPr>
          <p:cNvPr id="10" name="Resim 9" descr="kişi, şahıs, giyim, mobil telefon, dış mek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44E0A03-2FA5-18E0-EC94-9C3923E33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329013"/>
            <a:ext cx="7628973" cy="7628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275185" y="178834"/>
            <a:ext cx="10961971" cy="146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3"/>
              </a:lnSpc>
            </a:pPr>
            <a:r>
              <a:rPr lang="en-US" sz="80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INDUSTRY/SPACE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75185" y="4223316"/>
            <a:ext cx="7089527" cy="5410639"/>
            <a:chOff x="0" y="0"/>
            <a:chExt cx="1867201" cy="14250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7201" cy="1425024"/>
            </a:xfrm>
            <a:custGeom>
              <a:avLst/>
              <a:gdLst/>
              <a:ahLst/>
              <a:cxnLst/>
              <a:rect l="l" t="t" r="r" b="b"/>
              <a:pathLst>
                <a:path w="1867201" h="142502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369331"/>
                  </a:lnTo>
                  <a:cubicBezTo>
                    <a:pt x="1867201" y="1384102"/>
                    <a:pt x="1861333" y="1398268"/>
                    <a:pt x="1850888" y="1408712"/>
                  </a:cubicBezTo>
                  <a:cubicBezTo>
                    <a:pt x="1840444" y="1419157"/>
                    <a:pt x="1826278" y="1425024"/>
                    <a:pt x="1811507" y="1425024"/>
                  </a:cubicBezTo>
                  <a:lnTo>
                    <a:pt x="55693" y="1425024"/>
                  </a:lnTo>
                  <a:cubicBezTo>
                    <a:pt x="40922" y="1425024"/>
                    <a:pt x="26757" y="1419157"/>
                    <a:pt x="16312" y="1408712"/>
                  </a:cubicBezTo>
                  <a:cubicBezTo>
                    <a:pt x="5868" y="1398268"/>
                    <a:pt x="0" y="1384102"/>
                    <a:pt x="0" y="136933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67201" cy="1482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83357" y="4223316"/>
            <a:ext cx="7089527" cy="5410639"/>
            <a:chOff x="0" y="0"/>
            <a:chExt cx="1867201" cy="14250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7201" cy="1425024"/>
            </a:xfrm>
            <a:custGeom>
              <a:avLst/>
              <a:gdLst/>
              <a:ahLst/>
              <a:cxnLst/>
              <a:rect l="l" t="t" r="r" b="b"/>
              <a:pathLst>
                <a:path w="1867201" h="1425024">
                  <a:moveTo>
                    <a:pt x="55693" y="0"/>
                  </a:moveTo>
                  <a:lnTo>
                    <a:pt x="1811507" y="0"/>
                  </a:lnTo>
                  <a:cubicBezTo>
                    <a:pt x="1826278" y="0"/>
                    <a:pt x="1840444" y="5868"/>
                    <a:pt x="1850888" y="16312"/>
                  </a:cubicBezTo>
                  <a:cubicBezTo>
                    <a:pt x="1861333" y="26757"/>
                    <a:pt x="1867201" y="40922"/>
                    <a:pt x="1867201" y="55693"/>
                  </a:cubicBezTo>
                  <a:lnTo>
                    <a:pt x="1867201" y="1369331"/>
                  </a:lnTo>
                  <a:cubicBezTo>
                    <a:pt x="1867201" y="1384102"/>
                    <a:pt x="1861333" y="1398268"/>
                    <a:pt x="1850888" y="1408712"/>
                  </a:cubicBezTo>
                  <a:cubicBezTo>
                    <a:pt x="1840444" y="1419157"/>
                    <a:pt x="1826278" y="1425024"/>
                    <a:pt x="1811507" y="1425024"/>
                  </a:cubicBezTo>
                  <a:lnTo>
                    <a:pt x="55693" y="1425024"/>
                  </a:lnTo>
                  <a:cubicBezTo>
                    <a:pt x="40922" y="1425024"/>
                    <a:pt x="26757" y="1419157"/>
                    <a:pt x="16312" y="1408712"/>
                  </a:cubicBezTo>
                  <a:cubicBezTo>
                    <a:pt x="5868" y="1398268"/>
                    <a:pt x="0" y="1384102"/>
                    <a:pt x="0" y="1369331"/>
                  </a:cubicBezTo>
                  <a:lnTo>
                    <a:pt x="0" y="55693"/>
                  </a:lnTo>
                  <a:cubicBezTo>
                    <a:pt x="0" y="40922"/>
                    <a:pt x="5868" y="26757"/>
                    <a:pt x="16312" y="16312"/>
                  </a:cubicBezTo>
                  <a:cubicBezTo>
                    <a:pt x="26757" y="5868"/>
                    <a:pt x="40922" y="0"/>
                    <a:pt x="5569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67201" cy="1482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3521" y="4543444"/>
            <a:ext cx="6092856" cy="4191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E-commerce: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Localized and specific needs of the students (such as lecture notes, scientific calculators, or books) can open C2C and B2C marketplace opportunities.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81692" y="4543444"/>
            <a:ext cx="6092856" cy="314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Online Buddy:</a:t>
            </a:r>
          </a:p>
          <a:p>
            <a:pPr marL="646053" lvl="1" indent="-323027" algn="l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Events and regular entertaining activities of university students engages social interactions. There is </a:t>
            </a:r>
          </a:p>
          <a:p>
            <a:pPr algn="l">
              <a:lnSpc>
                <a:spcPts val="4189"/>
              </a:lnSpc>
            </a:pPr>
            <a:endParaRPr lang="en-US" sz="2992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75185" y="1876811"/>
            <a:ext cx="15397699" cy="1952830"/>
            <a:chOff x="0" y="0"/>
            <a:chExt cx="4055361" cy="5143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55361" cy="514326"/>
            </a:xfrm>
            <a:custGeom>
              <a:avLst/>
              <a:gdLst/>
              <a:ahLst/>
              <a:cxnLst/>
              <a:rect l="l" t="t" r="r" b="b"/>
              <a:pathLst>
                <a:path w="4055361" h="514326">
                  <a:moveTo>
                    <a:pt x="25643" y="0"/>
                  </a:moveTo>
                  <a:lnTo>
                    <a:pt x="4029718" y="0"/>
                  </a:lnTo>
                  <a:cubicBezTo>
                    <a:pt x="4043880" y="0"/>
                    <a:pt x="4055361" y="11481"/>
                    <a:pt x="4055361" y="25643"/>
                  </a:cubicBezTo>
                  <a:lnTo>
                    <a:pt x="4055361" y="488683"/>
                  </a:lnTo>
                  <a:cubicBezTo>
                    <a:pt x="4055361" y="495484"/>
                    <a:pt x="4052659" y="502006"/>
                    <a:pt x="4047851" y="506815"/>
                  </a:cubicBezTo>
                  <a:cubicBezTo>
                    <a:pt x="4043042" y="511624"/>
                    <a:pt x="4036519" y="514326"/>
                    <a:pt x="4029718" y="514326"/>
                  </a:cubicBezTo>
                  <a:lnTo>
                    <a:pt x="25643" y="514326"/>
                  </a:lnTo>
                  <a:cubicBezTo>
                    <a:pt x="11481" y="514326"/>
                    <a:pt x="0" y="502845"/>
                    <a:pt x="0" y="488683"/>
                  </a:cubicBezTo>
                  <a:lnTo>
                    <a:pt x="0" y="25643"/>
                  </a:lnTo>
                  <a:cubicBezTo>
                    <a:pt x="0" y="18842"/>
                    <a:pt x="2702" y="12319"/>
                    <a:pt x="7511" y="7511"/>
                  </a:cubicBezTo>
                  <a:cubicBezTo>
                    <a:pt x="12319" y="2702"/>
                    <a:pt x="18842" y="0"/>
                    <a:pt x="25643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4055361" cy="609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0A152F">
                      <a:alpha val="74902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Due to the designed duality of our project, it can target two industries that centers university students: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908956" y="2337368"/>
            <a:ext cx="7301807" cy="5612264"/>
            <a:chOff x="0" y="0"/>
            <a:chExt cx="2362204" cy="18156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2204" cy="1815621"/>
            </a:xfrm>
            <a:custGeom>
              <a:avLst/>
              <a:gdLst/>
              <a:ahLst/>
              <a:cxnLst/>
              <a:rect l="l" t="t" r="r" b="b"/>
              <a:pathLst>
                <a:path w="2362204" h="1815621">
                  <a:moveTo>
                    <a:pt x="54074" y="0"/>
                  </a:moveTo>
                  <a:lnTo>
                    <a:pt x="2308130" y="0"/>
                  </a:lnTo>
                  <a:cubicBezTo>
                    <a:pt x="2337994" y="0"/>
                    <a:pt x="2362204" y="24210"/>
                    <a:pt x="2362204" y="54074"/>
                  </a:cubicBezTo>
                  <a:lnTo>
                    <a:pt x="2362204" y="1761547"/>
                  </a:lnTo>
                  <a:cubicBezTo>
                    <a:pt x="2362204" y="1775888"/>
                    <a:pt x="2356507" y="1789642"/>
                    <a:pt x="2346366" y="1799783"/>
                  </a:cubicBezTo>
                  <a:cubicBezTo>
                    <a:pt x="2336225" y="1809924"/>
                    <a:pt x="2322471" y="1815621"/>
                    <a:pt x="2308130" y="1815621"/>
                  </a:cubicBezTo>
                  <a:lnTo>
                    <a:pt x="54074" y="1815621"/>
                  </a:lnTo>
                  <a:cubicBezTo>
                    <a:pt x="39733" y="1815621"/>
                    <a:pt x="25979" y="1809924"/>
                    <a:pt x="15838" y="1799783"/>
                  </a:cubicBezTo>
                  <a:cubicBezTo>
                    <a:pt x="5697" y="1789642"/>
                    <a:pt x="0" y="1775888"/>
                    <a:pt x="0" y="1761547"/>
                  </a:cubicBezTo>
                  <a:lnTo>
                    <a:pt x="0" y="54074"/>
                  </a:lnTo>
                  <a:cubicBezTo>
                    <a:pt x="0" y="39733"/>
                    <a:pt x="5697" y="25979"/>
                    <a:pt x="15838" y="15838"/>
                  </a:cubicBezTo>
                  <a:cubicBezTo>
                    <a:pt x="25979" y="5697"/>
                    <a:pt x="39733" y="0"/>
                    <a:pt x="54074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62204" cy="1872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57401" y="2964008"/>
            <a:ext cx="6404917" cy="3979055"/>
          </a:xfrm>
          <a:custGeom>
            <a:avLst/>
            <a:gdLst/>
            <a:ahLst/>
            <a:cxnLst/>
            <a:rect l="l" t="t" r="r" b="b"/>
            <a:pathLst>
              <a:path w="6404917" h="3979055">
                <a:moveTo>
                  <a:pt x="0" y="0"/>
                </a:moveTo>
                <a:lnTo>
                  <a:pt x="6404917" y="0"/>
                </a:lnTo>
                <a:lnTo>
                  <a:pt x="6404917" y="3979055"/>
                </a:lnTo>
                <a:lnTo>
                  <a:pt x="0" y="3979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9952568" y="2231259"/>
            <a:ext cx="5177767" cy="189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608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C2C TREND IN TÜRKİYE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3043" y="4365030"/>
            <a:ext cx="6426475" cy="314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C2C online trade volume in Türkiye reached 9.8 billion TL by 2024, as a result of COVID-19 pandemic.</a:t>
            </a:r>
          </a:p>
          <a:p>
            <a:pPr algn="l">
              <a:lnSpc>
                <a:spcPts val="3582"/>
              </a:lnSpc>
            </a:pPr>
            <a:endParaRPr lang="en-US" sz="25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52409" lvl="1" indent="-276204" algn="l">
              <a:lnSpc>
                <a:spcPts val="3582"/>
              </a:lnSpc>
              <a:buFont typeface="Arial"/>
              <a:buChar char="•"/>
            </a:pPr>
            <a:r>
              <a:rPr lang="en-US" sz="25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number of C2C online transaction reach 17.5 million by 2024.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33178" y="7032130"/>
            <a:ext cx="6853362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“Türkiye’de E-Ticaretin Görünümü”, Ministry of Trade,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8168-C8AD-127B-92EB-4DE23E4C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0DA820-6202-2566-C691-28167AE30EA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4" b="-81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2E9B27-7071-F43D-3FEC-7F5A88E7072B}"/>
              </a:ext>
            </a:extLst>
          </p:cNvPr>
          <p:cNvGrpSpPr/>
          <p:nvPr/>
        </p:nvGrpSpPr>
        <p:grpSpPr>
          <a:xfrm>
            <a:off x="1362533" y="2160500"/>
            <a:ext cx="15896767" cy="7466998"/>
            <a:chOff x="0" y="-193030"/>
            <a:chExt cx="5142756" cy="241564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6CB2454-AC79-B484-A683-817F585451F3}"/>
                </a:ext>
              </a:extLst>
            </p:cNvPr>
            <p:cNvSpPr/>
            <p:nvPr/>
          </p:nvSpPr>
          <p:spPr>
            <a:xfrm>
              <a:off x="3478785" y="-193030"/>
              <a:ext cx="1663971" cy="241564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solidFill>
              <a:schemeClr val="tx2">
                <a:lumMod val="50000"/>
                <a:alpha val="74902"/>
              </a:schemeClr>
            </a:solidFill>
          </p:spPr>
          <p:txBody>
            <a:bodyPr/>
            <a:lstStyle/>
            <a:p>
              <a:endParaRPr lang="tr-TR" sz="32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7.08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million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students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enrolled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in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Turkish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higher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education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(2022-2023),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with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over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3.7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million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bachelor's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degree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students</a:t>
              </a:r>
              <a:endParaRPr lang="tr-TR" altLang="tr-TR" sz="32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209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universities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across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32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32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</a:p>
            <a:p>
              <a:endParaRPr lang="tr-TR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302E25C-56A8-E5B0-0C44-DA62BB683AEB}"/>
                </a:ext>
              </a:extLst>
            </p:cNvPr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AF60E537-239E-8EBE-AF78-5F390BB2B0A7}"/>
              </a:ext>
            </a:extLst>
          </p:cNvPr>
          <p:cNvSpPr txBox="1"/>
          <p:nvPr/>
        </p:nvSpPr>
        <p:spPr>
          <a:xfrm>
            <a:off x="2121272" y="509272"/>
            <a:ext cx="14581312" cy="92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8"/>
              </a:lnSpc>
            </a:pPr>
            <a:r>
              <a:rPr lang="tr-TR" sz="6600" dirty="0" err="1">
                <a:solidFill>
                  <a:schemeClr val="bg1"/>
                </a:solidFill>
                <a:latin typeface="Poppins" panose="020B0502040204020203" pitchFamily="2" charset="-94"/>
                <a:cs typeface="Poppins" panose="020B0502040204020203" pitchFamily="2" charset="-94"/>
              </a:rPr>
              <a:t>Student</a:t>
            </a:r>
            <a:r>
              <a:rPr lang="tr-TR" sz="6600" dirty="0">
                <a:solidFill>
                  <a:schemeClr val="bg1"/>
                </a:solidFill>
                <a:latin typeface="Poppins" panose="020B0502040204020203" pitchFamily="2" charset="-94"/>
                <a:cs typeface="Poppins" panose="020B0502040204020203" pitchFamily="2" charset="-94"/>
              </a:rPr>
              <a:t> </a:t>
            </a:r>
            <a:r>
              <a:rPr lang="tr-TR" sz="6600" dirty="0" err="1">
                <a:solidFill>
                  <a:schemeClr val="bg1"/>
                </a:solidFill>
                <a:latin typeface="Poppins" panose="020B0502040204020203" pitchFamily="2" charset="-94"/>
                <a:cs typeface="Poppins" panose="020B0502040204020203" pitchFamily="2" charset="-94"/>
              </a:rPr>
              <a:t>Population</a:t>
            </a:r>
            <a:endParaRPr lang="en-US" sz="6082" dirty="0">
              <a:solidFill>
                <a:schemeClr val="bg1"/>
              </a:solidFill>
              <a:latin typeface="Poppins" panose="020B0502040204020203" pitchFamily="2" charset="-94"/>
              <a:ea typeface="Poppins"/>
              <a:cs typeface="Poppins" panose="020B0502040204020203" pitchFamily="2" charset="-94"/>
              <a:sym typeface="Poppins"/>
            </a:endParaRPr>
          </a:p>
        </p:txBody>
      </p:sp>
      <p:pic>
        <p:nvPicPr>
          <p:cNvPr id="9" name="Resim 8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3FDC84-7FE0-918D-C6E2-468E13270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533" y="2160499"/>
            <a:ext cx="10210800" cy="7586624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BC2915E3-7E94-16B8-37FD-CF5B218C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4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362533" y="2757175"/>
            <a:ext cx="15896767" cy="6870323"/>
            <a:chOff x="0" y="0"/>
            <a:chExt cx="5142756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756" cy="222261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99582" y="2907426"/>
            <a:ext cx="12194565" cy="6569822"/>
          </a:xfrm>
          <a:custGeom>
            <a:avLst/>
            <a:gdLst/>
            <a:ahLst/>
            <a:cxnLst/>
            <a:rect l="l" t="t" r="r" b="b"/>
            <a:pathLst>
              <a:path w="12194565" h="6569822">
                <a:moveTo>
                  <a:pt x="0" y="0"/>
                </a:moveTo>
                <a:lnTo>
                  <a:pt x="12194565" y="0"/>
                </a:lnTo>
                <a:lnTo>
                  <a:pt x="12194565" y="6569822"/>
                </a:lnTo>
                <a:lnTo>
                  <a:pt x="0" y="656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2121272" y="509272"/>
            <a:ext cx="14581312" cy="189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608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DISTRIBUTION OF UNIVERSITY STUDENTS IN TÜRKIYE BY 2024-25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9F5E-0F2D-D7CD-AF6E-63611653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762872-5BD0-DA30-806D-228A45BFFE5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4" b="-81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F93F268-8E36-E160-0E18-1BDA4F7D0851}"/>
              </a:ext>
            </a:extLst>
          </p:cNvPr>
          <p:cNvGrpSpPr/>
          <p:nvPr/>
        </p:nvGrpSpPr>
        <p:grpSpPr>
          <a:xfrm>
            <a:off x="1362533" y="2160500"/>
            <a:ext cx="15896767" cy="7466998"/>
            <a:chOff x="0" y="-193030"/>
            <a:chExt cx="5142756" cy="241564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C2918F-B3E4-0DAD-3CD8-F0373935EAD9}"/>
                </a:ext>
              </a:extLst>
            </p:cNvPr>
            <p:cNvSpPr/>
            <p:nvPr/>
          </p:nvSpPr>
          <p:spPr>
            <a:xfrm>
              <a:off x="3478785" y="-193030"/>
              <a:ext cx="1663971" cy="241564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solidFill>
              <a:schemeClr val="tx2">
                <a:lumMod val="50000"/>
                <a:alpha val="74902"/>
              </a:schemeClr>
            </a:solidFill>
          </p:spPr>
          <p:txBody>
            <a:bodyPr/>
            <a:lstStyle/>
            <a:p>
              <a:endParaRPr lang="tr-TR" sz="44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80.69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million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cellular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mobile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connections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in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.</a:t>
              </a:r>
            </a:p>
            <a:p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Smartphone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users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projected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to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reach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84.07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million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by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2029 (+13.5%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growth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).</a:t>
              </a:r>
            </a:p>
            <a:p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15-24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age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group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shows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highest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e-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commerce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adoption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800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rates</a:t>
              </a:r>
              <a:r>
                <a:rPr lang="tr-TR" altLang="tr-TR" sz="28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</a:p>
            <a:p>
              <a:endParaRPr lang="tr-TR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7C82C2F-9B1E-1BB6-18C8-F9F1777BB5C2}"/>
                </a:ext>
              </a:extLst>
            </p:cNvPr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CBCD0E5-685C-67D6-546C-39D3568D4F47}"/>
              </a:ext>
            </a:extLst>
          </p:cNvPr>
          <p:cNvSpPr txBox="1"/>
          <p:nvPr/>
        </p:nvSpPr>
        <p:spPr>
          <a:xfrm>
            <a:off x="2121272" y="509272"/>
            <a:ext cx="1458131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8"/>
              </a:lnSpc>
            </a:pPr>
            <a:r>
              <a:rPr lang="tr-TR" sz="6600" b="1" dirty="0" err="1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Digital</a:t>
            </a:r>
            <a:r>
              <a:rPr lang="tr-TR" sz="6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</a:t>
            </a:r>
            <a:r>
              <a:rPr lang="tr-TR" sz="6600" b="1" dirty="0" err="1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Adoption</a:t>
            </a:r>
            <a:endParaRPr lang="tr-TR" sz="6600" dirty="0">
              <a:solidFill>
                <a:schemeClr val="bg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4F63B47-CC2A-08CD-E03E-89FFA78C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Resim 7" descr="metin, ekran görüntüsü, yazı tipi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F351EBF-BB18-A09E-62FA-62F1D9041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301" y="2160500"/>
            <a:ext cx="10049797" cy="746699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1A9EAFC-67D7-EF5A-6E84-C082AC6F5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13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9A38-E8A4-E5C7-8FB5-931F23E4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9117A5-4318-8522-F4B6-098E41EF0D2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4" b="-81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EE09133-0A1F-49E3-0A33-A668EFFFA824}"/>
              </a:ext>
            </a:extLst>
          </p:cNvPr>
          <p:cNvGrpSpPr/>
          <p:nvPr/>
        </p:nvGrpSpPr>
        <p:grpSpPr>
          <a:xfrm>
            <a:off x="1362533" y="2580519"/>
            <a:ext cx="15896770" cy="7046979"/>
            <a:chOff x="0" y="-57150"/>
            <a:chExt cx="5142757" cy="227976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DDC85E6-C97D-C584-5578-0CB0A7FE8BF5}"/>
                </a:ext>
              </a:extLst>
            </p:cNvPr>
            <p:cNvSpPr/>
            <p:nvPr/>
          </p:nvSpPr>
          <p:spPr>
            <a:xfrm>
              <a:off x="2443425" y="-57150"/>
              <a:ext cx="2699332" cy="227976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Monthly Budget Breakdown</a:t>
              </a:r>
              <a:r>
                <a:rPr lang="tr-TR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:</a:t>
              </a:r>
            </a:p>
            <a:p>
              <a:endParaRPr lang="en-US" sz="3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International students live with 400-650 EUR per month budget</a:t>
              </a:r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Average living cost in Istanbul: </a:t>
              </a:r>
              <a:r>
                <a:rPr lang="tr-TR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~</a:t>
              </a:r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$1,700 per month (excluding rent)</a:t>
              </a:r>
              <a:endParaRPr lang="tr-TR" sz="3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Turkish household average: 24,383 TRY per month per household, 12,521 TRY per individual</a:t>
              </a:r>
              <a:endParaRPr lang="tr-TR" sz="3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en-US" sz="36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Student spending range: 4,724-11,811 TRY monthly excluding rent</a:t>
              </a:r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endParaRPr lang="tr-TR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CF20462-D26D-5702-EA88-FE41CBC16008}"/>
                </a:ext>
              </a:extLst>
            </p:cNvPr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74B5C96C-64AD-AE99-08D9-E7D1018137C3}"/>
              </a:ext>
            </a:extLst>
          </p:cNvPr>
          <p:cNvSpPr txBox="1"/>
          <p:nvPr/>
        </p:nvSpPr>
        <p:spPr>
          <a:xfrm>
            <a:off x="2121272" y="509272"/>
            <a:ext cx="14581312" cy="277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8"/>
              </a:lnSpc>
            </a:pPr>
            <a:r>
              <a:rPr lang="en-US" sz="6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Student Spending &amp; Economic Data</a:t>
            </a:r>
          </a:p>
          <a:p>
            <a:pPr>
              <a:lnSpc>
                <a:spcPts val="7238"/>
              </a:lnSpc>
            </a:pPr>
            <a:endParaRPr lang="tr-TR" sz="6600" dirty="0">
              <a:solidFill>
                <a:schemeClr val="bg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1860350-B188-D17D-4726-A908FE20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7AC9AC-F7B7-5800-54D8-903D6BA6D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AD7DA01-3BE8-EB10-78E3-17E7529D4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56" y="3285417"/>
            <a:ext cx="7993605" cy="50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0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D017-346E-4006-1AC6-E004963A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C834DC-DEE3-4C8B-FD0A-E9EE726224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4" b="-81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E12914C-16BF-846F-B461-05F688D6CC09}"/>
              </a:ext>
            </a:extLst>
          </p:cNvPr>
          <p:cNvGrpSpPr/>
          <p:nvPr/>
        </p:nvGrpSpPr>
        <p:grpSpPr>
          <a:xfrm>
            <a:off x="1362533" y="2362086"/>
            <a:ext cx="15896767" cy="7265412"/>
            <a:chOff x="0" y="-127815"/>
            <a:chExt cx="5142756" cy="235043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02F920-597F-B5AA-7BC3-D12CA3409A16}"/>
                </a:ext>
              </a:extLst>
            </p:cNvPr>
            <p:cNvSpPr/>
            <p:nvPr/>
          </p:nvSpPr>
          <p:spPr>
            <a:xfrm>
              <a:off x="2381795" y="-127815"/>
              <a:ext cx="2748635" cy="227976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tr-TR" sz="40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  <a:p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E-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commerce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market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growing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at 25.18% CAGR (2025-2033)</a:t>
              </a:r>
              <a:r>
                <a:rPr lang="tr-TR" altLang="tr-TR" sz="40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</a:p>
            <a:p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Alternative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projection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: 22.6% CAGR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over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next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5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years</a:t>
              </a:r>
              <a:r>
                <a:rPr lang="tr-TR" altLang="tr-TR" sz="40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</a:p>
            <a:p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Market size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reached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USD 27.8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billion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in 2023,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projected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to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hit USD 245.71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billion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by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2032</a:t>
              </a:r>
              <a:r>
                <a:rPr lang="tr-TR" altLang="tr-TR" sz="40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</a:p>
            <a:p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Major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players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: Amazon, Trendyol, Sahibinden.com, </a:t>
              </a:r>
              <a:r>
                <a:rPr lang="tr-TR" altLang="tr-TR" sz="4000" b="1" dirty="0" err="1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Hepsiburada</a:t>
              </a:r>
              <a:r>
                <a:rPr lang="tr-TR" altLang="tr-TR" sz="4000" b="1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, n11</a:t>
              </a:r>
              <a:r>
                <a:rPr lang="tr-TR" altLang="tr-TR" sz="4000" dirty="0">
                  <a:solidFill>
                    <a:schemeClr val="bg1"/>
                  </a:solidFill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</a:p>
            <a:p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B6399FC-35CD-F237-F39C-60B352521F8F}"/>
                </a:ext>
              </a:extLst>
            </p:cNvPr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7F82BB0-D487-DA74-4701-420DF2069F2B}"/>
              </a:ext>
            </a:extLst>
          </p:cNvPr>
          <p:cNvSpPr txBox="1"/>
          <p:nvPr/>
        </p:nvSpPr>
        <p:spPr>
          <a:xfrm>
            <a:off x="2121272" y="509272"/>
            <a:ext cx="14581312" cy="185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8"/>
              </a:lnSpc>
            </a:pPr>
            <a:r>
              <a:rPr lang="tr-TR" sz="6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E-</a:t>
            </a:r>
            <a:r>
              <a:rPr lang="tr-TR" sz="6600" b="1" dirty="0" err="1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commerce</a:t>
            </a:r>
            <a:r>
              <a:rPr lang="tr-TR" sz="6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 </a:t>
            </a:r>
            <a:r>
              <a:rPr lang="tr-TR" sz="6600" b="1" dirty="0" err="1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Growth</a:t>
            </a:r>
            <a:endParaRPr lang="tr-TR" sz="6600" b="1" dirty="0">
              <a:solidFill>
                <a:schemeClr val="bg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>
              <a:lnSpc>
                <a:spcPts val="7238"/>
              </a:lnSpc>
            </a:pPr>
            <a:endParaRPr lang="tr-TR" sz="6600" dirty="0">
              <a:solidFill>
                <a:schemeClr val="bg1"/>
              </a:solidFill>
              <a:latin typeface="Poppins" panose="00000500000000000000" pitchFamily="2" charset="-94"/>
              <a:cs typeface="Poppins" panose="00000500000000000000" pitchFamily="2" charset="-94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4548909-3D30-C573-61DF-7D4BE425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D83E7C5-6D16-DB21-E9DD-40032CED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72DA1EE-534E-33F4-2550-2F5291B04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34300528-8B59-207E-47FC-CB69AAEB8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36" y="2876121"/>
            <a:ext cx="7906853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21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908956" y="1948590"/>
            <a:ext cx="14862783" cy="6870323"/>
            <a:chOff x="0" y="0"/>
            <a:chExt cx="4808252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8252" cy="222261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48575" y="2280946"/>
            <a:ext cx="12080447" cy="110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sz="608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COMMISSIONS AND CARGO FEE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48575" y="3642556"/>
            <a:ext cx="12080447" cy="449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Dolap, one of the most significant competitor in C2C e-commerce market, applies the policy of commissions (%15 from the seller, and %8 from the buyer). Also, there are several complaints about overcharging the cargo fee.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Commissions and cargo fees are standard source of income for such platforms.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By advantage of localization and trusted common places, cargo fees may be reduced. Also, for the start, commissions may be replaced with 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9137-496B-378C-BC45-5754D85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21DBE1-CD9E-DE62-994A-2042678D7FE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4" b="-814"/>
            </a:stretch>
          </a:blipFill>
        </p:spPr>
        <p:txBody>
          <a:bodyPr/>
          <a:lstStyle/>
          <a:p>
            <a:endParaRPr lang="tr-T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D1C86FD-9101-BB1E-2D64-197109998DB1}"/>
              </a:ext>
            </a:extLst>
          </p:cNvPr>
          <p:cNvGrpSpPr/>
          <p:nvPr/>
        </p:nvGrpSpPr>
        <p:grpSpPr>
          <a:xfrm>
            <a:off x="1362533" y="2362086"/>
            <a:ext cx="15896767" cy="7265412"/>
            <a:chOff x="0" y="-127815"/>
            <a:chExt cx="5142756" cy="235043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F80248-4E4A-BA58-1841-E14CD23C095A}"/>
                </a:ext>
              </a:extLst>
            </p:cNvPr>
            <p:cNvSpPr/>
            <p:nvPr/>
          </p:nvSpPr>
          <p:spPr>
            <a:xfrm>
              <a:off x="2381795" y="-127815"/>
              <a:ext cx="2748635" cy="2279765"/>
            </a:xfrm>
            <a:custGeom>
              <a:avLst/>
              <a:gdLst/>
              <a:ahLst/>
              <a:cxnLst/>
              <a:rect l="l" t="t" r="r" b="b"/>
              <a:pathLst>
                <a:path w="5142756" h="2222615">
                  <a:moveTo>
                    <a:pt x="24838" y="0"/>
                  </a:moveTo>
                  <a:lnTo>
                    <a:pt x="5117918" y="0"/>
                  </a:lnTo>
                  <a:cubicBezTo>
                    <a:pt x="5131636" y="0"/>
                    <a:pt x="5142756" y="11120"/>
                    <a:pt x="5142756" y="24838"/>
                  </a:cubicBezTo>
                  <a:lnTo>
                    <a:pt x="5142756" y="2197777"/>
                  </a:lnTo>
                  <a:cubicBezTo>
                    <a:pt x="5142756" y="2211495"/>
                    <a:pt x="5131636" y="2222615"/>
                    <a:pt x="5117918" y="2222615"/>
                  </a:cubicBezTo>
                  <a:lnTo>
                    <a:pt x="24838" y="2222615"/>
                  </a:lnTo>
                  <a:cubicBezTo>
                    <a:pt x="11120" y="2222615"/>
                    <a:pt x="0" y="2211495"/>
                    <a:pt x="0" y="2197777"/>
                  </a:cubicBezTo>
                  <a:lnTo>
                    <a:pt x="0" y="24838"/>
                  </a:lnTo>
                  <a:cubicBezTo>
                    <a:pt x="0" y="11120"/>
                    <a:pt x="11120" y="0"/>
                    <a:pt x="24838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n-US" sz="3600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B637C6-CE1E-7380-DB27-B2C666EEEF76}"/>
                </a:ext>
              </a:extLst>
            </p:cNvPr>
            <p:cNvSpPr txBox="1"/>
            <p:nvPr/>
          </p:nvSpPr>
          <p:spPr>
            <a:xfrm>
              <a:off x="0" y="-57150"/>
              <a:ext cx="5142756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6FC64B1D-5D8B-0706-632D-3A33CBB1F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E2DD376-1F57-E981-5151-43DF7C979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38A078-7B47-9F12-42F5-500D8E253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AFFAC54-52FF-BC0D-A3E3-A47763AD7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180" y="1438757"/>
            <a:ext cx="6324599" cy="729761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993CAB9A-C624-B26F-B566-44AFA4124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312" y="1825921"/>
            <a:ext cx="8421887" cy="66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5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908956" y="1948590"/>
            <a:ext cx="14862783" cy="6870323"/>
            <a:chOff x="0" y="0"/>
            <a:chExt cx="4808252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8252" cy="222261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01157" y="2116234"/>
            <a:ext cx="9085687" cy="110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sz="608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POWER OF HOMOPHILY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48575" y="3642556"/>
            <a:ext cx="11390851" cy="3993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Homophily, a sociological concept, describes how people are naturally drawn to those similar to themselves—whether by beliefs, values, demographics, or preferences. This natural affinity fosters trust and smoother interactions.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Universities can be a package for these elements!</a:t>
            </a:r>
          </a:p>
          <a:p>
            <a:pPr marL="608045" lvl="1" indent="-304022" algn="l">
              <a:lnSpc>
                <a:spcPts val="3942"/>
              </a:lnSpc>
              <a:buFont typeface="Arial"/>
              <a:buChar char="•"/>
            </a:pPr>
            <a:r>
              <a:rPr lang="en-US" sz="2816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Especially in well established universities, students are connected with, not only on the same location, but also on the same cultural 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908956" y="1948590"/>
            <a:ext cx="14862783" cy="6870323"/>
            <a:chOff x="0" y="0"/>
            <a:chExt cx="4808252" cy="2222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08252" cy="222261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22920" y="2236025"/>
            <a:ext cx="10238269" cy="110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en-US" sz="6082" b="1">
                <a:solidFill>
                  <a:srgbClr val="0A152F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QUO SENTENCES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22920" y="3627582"/>
            <a:ext cx="10267816" cy="447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STUDENTS AND E-COMMERCE IN TÜRKİYE GREW TOGETHER.</a:t>
            </a:r>
            <a:endParaRPr lang="tr-TR" sz="2816" dirty="0">
              <a:solidFill>
                <a:srgbClr val="0A152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ts val="3942"/>
              </a:lnSpc>
            </a:pP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Turkey's 7.08 million university students, spending 400-650 EUR monthly with 91% smartphone adoption, represent an underserved segment in the rapidly growing e-commerce market (25.18% CAGR) dominated by generic platforms charging 15-23% commissions</a:t>
            </a:r>
            <a:r>
              <a:rPr lang="tr-TR" sz="3200" dirty="0">
                <a:solidFill>
                  <a:schemeClr val="tx2">
                    <a:lumMod val="50000"/>
                  </a:schemeClr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.</a:t>
            </a:r>
          </a:p>
          <a:p>
            <a:pPr>
              <a:lnSpc>
                <a:spcPts val="3942"/>
              </a:lnSpc>
            </a:pPr>
            <a:endParaRPr lang="tr-TR" sz="3200" dirty="0"/>
          </a:p>
          <a:p>
            <a:pPr>
              <a:lnSpc>
                <a:spcPts val="3942"/>
              </a:lnSpc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0F9E-CE74-09A5-E3D1-EA641BB6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FB3FFF-EA5D-BC37-C1E0-4CB7E787E12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3B7660-2DE9-B1CA-A27D-E34A4395F19B}"/>
              </a:ext>
            </a:extLst>
          </p:cNvPr>
          <p:cNvGrpSpPr/>
          <p:nvPr/>
        </p:nvGrpSpPr>
        <p:grpSpPr>
          <a:xfrm>
            <a:off x="1908956" y="1771934"/>
            <a:ext cx="14862783" cy="8248366"/>
            <a:chOff x="0" y="-57150"/>
            <a:chExt cx="4808252" cy="266842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972FE2-0622-2320-7D62-C93F263DCFF0}"/>
                </a:ext>
              </a:extLst>
            </p:cNvPr>
            <p:cNvSpPr/>
            <p:nvPr/>
          </p:nvSpPr>
          <p:spPr>
            <a:xfrm>
              <a:off x="0" y="0"/>
              <a:ext cx="4808252" cy="2611275"/>
            </a:xfrm>
            <a:custGeom>
              <a:avLst/>
              <a:gdLst/>
              <a:ahLst/>
              <a:cxnLst/>
              <a:rect l="l" t="t" r="r" b="b"/>
              <a:pathLst>
                <a:path w="4808252" h="2222615">
                  <a:moveTo>
                    <a:pt x="26566" y="0"/>
                  </a:moveTo>
                  <a:lnTo>
                    <a:pt x="4781687" y="0"/>
                  </a:lnTo>
                  <a:cubicBezTo>
                    <a:pt x="4788733" y="0"/>
                    <a:pt x="4795489" y="2799"/>
                    <a:pt x="4800471" y="7781"/>
                  </a:cubicBezTo>
                  <a:cubicBezTo>
                    <a:pt x="4805454" y="12763"/>
                    <a:pt x="4808252" y="19520"/>
                    <a:pt x="4808252" y="26566"/>
                  </a:cubicBezTo>
                  <a:lnTo>
                    <a:pt x="4808252" y="2196049"/>
                  </a:lnTo>
                  <a:cubicBezTo>
                    <a:pt x="4808252" y="2203095"/>
                    <a:pt x="4805454" y="2209852"/>
                    <a:pt x="4800471" y="2214834"/>
                  </a:cubicBezTo>
                  <a:cubicBezTo>
                    <a:pt x="4795489" y="2219816"/>
                    <a:pt x="4788733" y="2222615"/>
                    <a:pt x="4781687" y="2222615"/>
                  </a:cubicBezTo>
                  <a:lnTo>
                    <a:pt x="26566" y="2222615"/>
                  </a:lnTo>
                  <a:cubicBezTo>
                    <a:pt x="19520" y="2222615"/>
                    <a:pt x="12763" y="2219816"/>
                    <a:pt x="7781" y="2214834"/>
                  </a:cubicBezTo>
                  <a:cubicBezTo>
                    <a:pt x="2799" y="2209852"/>
                    <a:pt x="0" y="2203095"/>
                    <a:pt x="0" y="2196049"/>
                  </a:cubicBezTo>
                  <a:lnTo>
                    <a:pt x="0" y="26566"/>
                  </a:lnTo>
                  <a:cubicBezTo>
                    <a:pt x="0" y="19520"/>
                    <a:pt x="2799" y="12763"/>
                    <a:pt x="7781" y="7781"/>
                  </a:cubicBezTo>
                  <a:cubicBezTo>
                    <a:pt x="12763" y="2799"/>
                    <a:pt x="19520" y="0"/>
                    <a:pt x="26566" y="0"/>
                  </a:cubicBez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  <p:txBody>
            <a:bodyPr/>
            <a:lstStyle/>
            <a:p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Ministry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Trade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,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Republic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(2025). 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Türkiye'de E-Ticaretin Görünümü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[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Overview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E-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commerce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in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].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Ministry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Trade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Official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Report. </a:t>
              </a:r>
            </a:p>
            <a:p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YÖK (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Council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Higher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Education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) (2023).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Higher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Education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Statistics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2022-2023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Retrieved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from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YÖK İstatistik Database. </a:t>
              </a:r>
            </a:p>
            <a:p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Turkish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Statistical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Institute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(TÜİK) (2023).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Household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Consumption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Expenditure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Statistics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Official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Government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Statistics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</a:p>
            <a:p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Statista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(2024).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E-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commerce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Market Analysis 2024-2032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Market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Research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Report. </a:t>
              </a:r>
            </a:p>
            <a:p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Research and Markets (2024). </a:t>
              </a:r>
              <a:r>
                <a:rPr lang="en-US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Turkey E-commerce Market Report - Growth, Trends, and Forecasts (2024-2029)</a:t>
              </a:r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Market Intelligence Report.</a:t>
              </a:r>
            </a:p>
            <a:p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Numbeo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(2024).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Cost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of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Living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in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-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Monthly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Expenses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Breakdown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Living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Cost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Database. </a:t>
              </a:r>
            </a:p>
            <a:p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Trendyol,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Hepsiburada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, n11 (2024). 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Market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Share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and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Platform Analysis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Competitive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Intelligence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Report. </a:t>
              </a:r>
            </a:p>
            <a:p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Dolap (2024).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Commission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Structure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and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Fee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Policy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Platform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Official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Documentation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</a:p>
            <a:p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Sahibinden.com (2024). 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C2C Marketplace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Statistics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and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User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Behavior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Platform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Analytics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Report </a:t>
              </a:r>
            </a:p>
            <a:p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Journal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of Business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Research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(2023). 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"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Homophily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and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Trust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in Online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Marketplaces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: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Evidence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from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University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Communities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"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Academic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Research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Paper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</a:t>
              </a:r>
            </a:p>
            <a:p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GSMA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Intelligence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(2024). 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Mobile Connectivity Index: </a:t>
              </a:r>
              <a:r>
                <a:rPr lang="tr-TR" altLang="tr-TR" sz="2400" i="1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Turkey</a:t>
              </a:r>
              <a:r>
                <a:rPr lang="tr-TR" altLang="tr-TR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 2024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Mobile </a:t>
              </a:r>
              <a:r>
                <a:rPr lang="tr-TR" altLang="tr-TR" sz="2400" dirty="0" err="1">
                  <a:latin typeface="Poppins" panose="00000500000000000000" pitchFamily="2" charset="-94"/>
                  <a:cs typeface="Poppins" panose="00000500000000000000" pitchFamily="2" charset="-94"/>
                </a:rPr>
                <a:t>Industry</a:t>
              </a:r>
              <a:r>
                <a:rPr lang="tr-TR" altLang="tr-TR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 Report. </a:t>
              </a:r>
            </a:p>
            <a:p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Sensor Tower (2024). </a:t>
              </a:r>
              <a:r>
                <a:rPr lang="en-US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E-commerce App Downloads and Usage in Turkey</a:t>
              </a:r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Mobile App Intelligence.</a:t>
              </a:r>
            </a:p>
            <a:p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OECD (2024). </a:t>
              </a:r>
              <a:r>
                <a:rPr lang="en-US" sz="2400" i="1" dirty="0">
                  <a:latin typeface="Poppins" panose="00000500000000000000" pitchFamily="2" charset="-94"/>
                  <a:cs typeface="Poppins" panose="00000500000000000000" pitchFamily="2" charset="-94"/>
                </a:rPr>
                <a:t>Turkey Economic Outlook - Digital Commerce Sector Analysis</a:t>
              </a:r>
              <a:r>
                <a:rPr lang="en-US" sz="2400" dirty="0">
                  <a:latin typeface="Poppins" panose="00000500000000000000" pitchFamily="2" charset="-94"/>
                  <a:cs typeface="Poppins" panose="00000500000000000000" pitchFamily="2" charset="-94"/>
                </a:rPr>
                <a:t>. International Economic Report.</a:t>
              </a:r>
            </a:p>
            <a:p>
              <a:endParaRPr lang="tr-TR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6D010DC-6DF0-2260-94D2-EEBC3B837C23}"/>
                </a:ext>
              </a:extLst>
            </p:cNvPr>
            <p:cNvSpPr txBox="1"/>
            <p:nvPr/>
          </p:nvSpPr>
          <p:spPr>
            <a:xfrm>
              <a:off x="0" y="-57150"/>
              <a:ext cx="4808252" cy="2279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C900758-A14E-FBDD-02A1-E45A4D1ABFF9}"/>
              </a:ext>
            </a:extLst>
          </p:cNvPr>
          <p:cNvSpPr txBox="1"/>
          <p:nvPr/>
        </p:nvSpPr>
        <p:spPr>
          <a:xfrm>
            <a:off x="3657600" y="631284"/>
            <a:ext cx="10238269" cy="100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16"/>
              </a:lnSpc>
            </a:pPr>
            <a:r>
              <a:rPr lang="tr-TR" sz="6600" b="1" dirty="0">
                <a:solidFill>
                  <a:schemeClr val="bg1"/>
                </a:solidFill>
                <a:latin typeface="Poppins" panose="00000500000000000000" pitchFamily="2" charset="-94"/>
                <a:cs typeface="Poppins" panose="00000500000000000000" pitchFamily="2" charset="-94"/>
              </a:rPr>
              <a:t>REFERENCES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B4CC5C-80C7-D146-3DD3-72990C40B407}"/>
              </a:ext>
            </a:extLst>
          </p:cNvPr>
          <p:cNvSpPr txBox="1"/>
          <p:nvPr/>
        </p:nvSpPr>
        <p:spPr>
          <a:xfrm>
            <a:off x="3822920" y="3627582"/>
            <a:ext cx="10267816" cy="483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42"/>
              </a:lnSpc>
            </a:pPr>
            <a:r>
              <a:rPr lang="en-US" sz="2816" dirty="0">
                <a:solidFill>
                  <a:srgbClr val="0A152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30F6CAE-F679-205A-547E-6C87E2C90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DDD158E-73B0-EFF1-C0AF-B7E94F87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14372A1-7380-3CA2-CEE6-139CDBA30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91410F5-268D-B847-3480-1A9F4BF2C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205B21A-E9B6-6DA9-FAEA-6CC9C85AB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073038F-E522-660F-8C60-D1D2A052E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534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14" b="-81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TextBox 3"/>
          <p:cNvSpPr txBox="1"/>
          <p:nvPr/>
        </p:nvSpPr>
        <p:spPr>
          <a:xfrm>
            <a:off x="1307427" y="1098468"/>
            <a:ext cx="15673147" cy="7454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44"/>
              </a:lnSpc>
            </a:pPr>
            <a:r>
              <a:rPr lang="en-US" sz="1700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ctr">
              <a:lnSpc>
                <a:spcPts val="19044"/>
              </a:lnSpc>
            </a:pPr>
            <a:r>
              <a:rPr lang="en-US" sz="1700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772</Words>
  <Application>Microsoft Office PowerPoint</Application>
  <PresentationFormat>Custom</PresentationFormat>
  <Paragraphs>74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Poppins Bold</vt:lpstr>
      <vt:lpstr>Arial</vt:lpstr>
      <vt:lpstr>Poppins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QUO</dc:title>
  <cp:lastModifiedBy>Ali Ayhan Günder</cp:lastModifiedBy>
  <cp:revision>3</cp:revision>
  <dcterms:created xsi:type="dcterms:W3CDTF">2006-08-16T00:00:00Z</dcterms:created>
  <dcterms:modified xsi:type="dcterms:W3CDTF">2025-07-15T17:42:43Z</dcterms:modified>
  <dc:identifier>DAGtKjmkfTs</dc:identifier>
</cp:coreProperties>
</file>