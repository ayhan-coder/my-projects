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23533100" cy="11772900"/>
  <p:notesSz cx="6858000" cy="9144000"/>
  <p:embeddedFontLst>
    <p:embeddedFont>
      <p:font typeface="Arial Bold" charset="1" panose="020B0802020202020204"/>
      <p:regular r:id="rId7"/>
    </p:embeddedFont>
    <p:embeddedFont>
      <p:font typeface="Arial" charset="1" panose="020B050202020202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657600" y="1182624"/>
            <a:ext cx="16230600" cy="9561576"/>
            <a:chOff x="0" y="0"/>
            <a:chExt cx="21640800" cy="127487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40800" cy="12748768"/>
            </a:xfrm>
            <a:custGeom>
              <a:avLst/>
              <a:gdLst/>
              <a:ahLst/>
              <a:cxnLst/>
              <a:rect r="r" b="b" t="t" l="l"/>
              <a:pathLst>
                <a:path h="12748768" w="21640800">
                  <a:moveTo>
                    <a:pt x="21192110" y="167259"/>
                  </a:moveTo>
                  <a:cubicBezTo>
                    <a:pt x="21217891" y="167259"/>
                    <a:pt x="21242782" y="172212"/>
                    <a:pt x="21266658" y="182118"/>
                  </a:cubicBezTo>
                  <a:cubicBezTo>
                    <a:pt x="21290535" y="192024"/>
                    <a:pt x="21311617" y="206121"/>
                    <a:pt x="21329777" y="224282"/>
                  </a:cubicBezTo>
                  <a:cubicBezTo>
                    <a:pt x="21347937" y="242443"/>
                    <a:pt x="21362163" y="263652"/>
                    <a:pt x="21371940" y="287401"/>
                  </a:cubicBezTo>
                  <a:cubicBezTo>
                    <a:pt x="21381718" y="311150"/>
                    <a:pt x="21386800" y="336042"/>
                    <a:pt x="21386800" y="361950"/>
                  </a:cubicBezTo>
                  <a:lnTo>
                    <a:pt x="21386800" y="12215368"/>
                  </a:lnTo>
                  <a:cubicBezTo>
                    <a:pt x="21386800" y="12241150"/>
                    <a:pt x="21381847" y="12266041"/>
                    <a:pt x="21371940" y="12289917"/>
                  </a:cubicBezTo>
                  <a:cubicBezTo>
                    <a:pt x="21362034" y="12313793"/>
                    <a:pt x="21347937" y="12334875"/>
                    <a:pt x="21329777" y="12353036"/>
                  </a:cubicBezTo>
                  <a:cubicBezTo>
                    <a:pt x="21311617" y="12371197"/>
                    <a:pt x="21290407" y="12385421"/>
                    <a:pt x="21266658" y="12395200"/>
                  </a:cubicBezTo>
                  <a:cubicBezTo>
                    <a:pt x="21242910" y="12404979"/>
                    <a:pt x="21218018" y="12410059"/>
                    <a:pt x="21192110" y="12410059"/>
                  </a:cubicBezTo>
                  <a:lnTo>
                    <a:pt x="448691" y="12410059"/>
                  </a:lnTo>
                  <a:cubicBezTo>
                    <a:pt x="422910" y="12410059"/>
                    <a:pt x="398018" y="12405106"/>
                    <a:pt x="374142" y="12395200"/>
                  </a:cubicBezTo>
                  <a:cubicBezTo>
                    <a:pt x="350266" y="12385294"/>
                    <a:pt x="329184" y="12371197"/>
                    <a:pt x="311023" y="12353036"/>
                  </a:cubicBezTo>
                  <a:cubicBezTo>
                    <a:pt x="292862" y="12334875"/>
                    <a:pt x="278638" y="12313666"/>
                    <a:pt x="268859" y="12289917"/>
                  </a:cubicBezTo>
                  <a:cubicBezTo>
                    <a:pt x="259080" y="12266168"/>
                    <a:pt x="254000" y="12241149"/>
                    <a:pt x="254000" y="12215368"/>
                  </a:cubicBezTo>
                  <a:lnTo>
                    <a:pt x="254000" y="362077"/>
                  </a:lnTo>
                  <a:cubicBezTo>
                    <a:pt x="254000" y="336296"/>
                    <a:pt x="258953" y="311404"/>
                    <a:pt x="268859" y="287528"/>
                  </a:cubicBezTo>
                  <a:cubicBezTo>
                    <a:pt x="278765" y="263652"/>
                    <a:pt x="292862" y="242570"/>
                    <a:pt x="311023" y="224409"/>
                  </a:cubicBezTo>
                  <a:cubicBezTo>
                    <a:pt x="329184" y="206248"/>
                    <a:pt x="350393" y="192024"/>
                    <a:pt x="374142" y="182245"/>
                  </a:cubicBezTo>
                  <a:cubicBezTo>
                    <a:pt x="397891" y="172466"/>
                    <a:pt x="422783" y="167386"/>
                    <a:pt x="448691" y="167386"/>
                  </a:cubicBezTo>
                  <a:close/>
                  <a:moveTo>
                    <a:pt x="0" y="0"/>
                  </a:moveTo>
                  <a:lnTo>
                    <a:pt x="0" y="12748768"/>
                  </a:lnTo>
                  <a:lnTo>
                    <a:pt x="21640800" y="12748768"/>
                  </a:lnTo>
                  <a:lnTo>
                    <a:pt x="2164080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594097" y="1119121"/>
            <a:ext cx="16357597" cy="10895076"/>
          </a:xfrm>
          <a:custGeom>
            <a:avLst/>
            <a:gdLst/>
            <a:ahLst/>
            <a:cxnLst/>
            <a:rect r="r" b="b" t="t" l="l"/>
            <a:pathLst>
              <a:path h="10895076" w="16357597">
                <a:moveTo>
                  <a:pt x="0" y="0"/>
                </a:moveTo>
                <a:lnTo>
                  <a:pt x="16357597" y="0"/>
                </a:lnTo>
                <a:lnTo>
                  <a:pt x="16357597" y="10895076"/>
                </a:lnTo>
                <a:lnTo>
                  <a:pt x="0" y="108950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220700" y="7213597"/>
            <a:ext cx="254003" cy="254003"/>
          </a:xfrm>
          <a:custGeom>
            <a:avLst/>
            <a:gdLst/>
            <a:ahLst/>
            <a:cxnLst/>
            <a:rect r="r" b="b" t="t" l="l"/>
            <a:pathLst>
              <a:path h="254003" w="254003">
                <a:moveTo>
                  <a:pt x="0" y="0"/>
                </a:moveTo>
                <a:lnTo>
                  <a:pt x="254003" y="0"/>
                </a:lnTo>
                <a:lnTo>
                  <a:pt x="25400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980670" y="7188718"/>
            <a:ext cx="5341620" cy="3375346"/>
          </a:xfrm>
          <a:custGeom>
            <a:avLst/>
            <a:gdLst/>
            <a:ahLst/>
            <a:cxnLst/>
            <a:rect r="r" b="b" t="t" l="l"/>
            <a:pathLst>
              <a:path h="3375346" w="5341620">
                <a:moveTo>
                  <a:pt x="0" y="0"/>
                </a:moveTo>
                <a:lnTo>
                  <a:pt x="5341620" y="0"/>
                </a:lnTo>
                <a:lnTo>
                  <a:pt x="5341620" y="3375345"/>
                </a:lnTo>
                <a:lnTo>
                  <a:pt x="0" y="33753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32529" y="1651511"/>
            <a:ext cx="1231897" cy="1231897"/>
          </a:xfrm>
          <a:custGeom>
            <a:avLst/>
            <a:gdLst/>
            <a:ahLst/>
            <a:cxnLst/>
            <a:rect r="r" b="b" t="t" l="l"/>
            <a:pathLst>
              <a:path h="1231897" w="1231897">
                <a:moveTo>
                  <a:pt x="0" y="0"/>
                </a:moveTo>
                <a:lnTo>
                  <a:pt x="1231897" y="0"/>
                </a:lnTo>
                <a:lnTo>
                  <a:pt x="1231897" y="1231897"/>
                </a:lnTo>
                <a:lnTo>
                  <a:pt x="0" y="12318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925991" y="1619098"/>
            <a:ext cx="7834703" cy="581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4"/>
              </a:lnSpc>
            </a:pPr>
            <a:r>
              <a:rPr lang="en-US" b="true" sz="3499">
                <a:solidFill>
                  <a:srgbClr val="2C3E50"/>
                </a:solidFill>
                <a:latin typeface="Arial Bold"/>
                <a:ea typeface="Arial Bold"/>
                <a:cs typeface="Arial Bold"/>
                <a:sym typeface="Arial Bold"/>
              </a:rPr>
              <a:t>CampusConnect: Solution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85448" y="2035550"/>
            <a:ext cx="71980" cy="48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1999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73691" y="2140325"/>
            <a:ext cx="9777108" cy="375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Empowering</a:t>
            </a:r>
            <a:r>
              <a:rPr lang="en-US" sz="1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99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Turkish</a:t>
            </a:r>
            <a:r>
              <a:rPr lang="en-US" sz="1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99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University</a:t>
            </a:r>
            <a:r>
              <a:rPr lang="en-US" sz="1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99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Students</a:t>
            </a:r>
            <a:r>
              <a:rPr lang="en-US" sz="1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99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with</a:t>
            </a:r>
            <a:r>
              <a:rPr lang="en-US" sz="1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99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99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Hyper-Local</a:t>
            </a:r>
            <a:r>
              <a:rPr lang="en-US" sz="1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99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C2C</a:t>
            </a:r>
            <a:r>
              <a:rPr lang="en-US" sz="1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99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1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99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Social</a:t>
            </a:r>
            <a:r>
              <a:rPr lang="en-US" sz="1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99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Platform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00163" y="6837855"/>
            <a:ext cx="2702633" cy="375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5936B4"/>
                </a:solidFill>
                <a:latin typeface="Arial"/>
                <a:ea typeface="Arial"/>
                <a:cs typeface="Arial"/>
                <a:sym typeface="Arial"/>
              </a:rPr>
              <a:t>CampusConnect Visual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05300" y="3091882"/>
            <a:ext cx="3185208" cy="55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7"/>
              </a:lnSpc>
            </a:pPr>
            <a:r>
              <a:rPr lang="en-US" b="true" sz="2499">
                <a:solidFill>
                  <a:srgbClr val="2980B9"/>
                </a:solidFill>
                <a:latin typeface="Arial Bold"/>
                <a:ea typeface="Arial Bold"/>
                <a:cs typeface="Arial Bold"/>
                <a:sym typeface="Arial Bold"/>
              </a:rPr>
              <a:t>Step 1: Goals &amp; MVP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67085" y="3585696"/>
            <a:ext cx="62979" cy="519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1749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05300" y="5136585"/>
            <a:ext cx="3203715" cy="55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7"/>
              </a:lnSpc>
            </a:pPr>
            <a:r>
              <a:rPr lang="en-US" b="true" sz="2499">
                <a:solidFill>
                  <a:srgbClr val="2980B9"/>
                </a:solidFill>
                <a:latin typeface="Arial Bold"/>
                <a:ea typeface="Arial Bold"/>
                <a:cs typeface="Arial Bold"/>
                <a:sym typeface="Arial Bold"/>
              </a:rPr>
              <a:t>Step 2: Key Features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27334" y="5630389"/>
            <a:ext cx="62979" cy="519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1749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25300" y="3177607"/>
            <a:ext cx="2735170" cy="469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2980B9"/>
                </a:solidFill>
                <a:latin typeface="Arial Bold"/>
                <a:ea typeface="Arial Bold"/>
                <a:cs typeface="Arial Bold"/>
                <a:sym typeface="Arial Bold"/>
              </a:rPr>
              <a:t>Value Proposition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22797" y="5849464"/>
            <a:ext cx="6035754" cy="30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Hyper-Local C2CMarketplacefor buying/selling used goods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22797" y="6116164"/>
            <a:ext cx="6745500" cy="4078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(textbooks, electronics, furniture).</a:t>
            </a:r>
          </a:p>
          <a:p>
            <a:pPr algn="l">
              <a:lnSpc>
                <a:spcPts val="2099"/>
              </a:lnSpc>
            </a:pPr>
          </a:p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AI-Powered Easy Listing: Snap a photo of an item, and our AI will automatically suggest a title, description, and category, making selling faster and simpler.</a:t>
            </a:r>
          </a:p>
          <a:p>
            <a:pPr algn="l">
              <a:lnSpc>
                <a:spcPts val="2099"/>
              </a:lnSpc>
            </a:pPr>
          </a:p>
          <a:p>
            <a:pPr algn="l">
              <a:lnSpc>
                <a:spcPts val="4100"/>
              </a:lnSpc>
            </a:pPr>
            <a:r>
              <a:rPr lang="en-US" sz="1749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Zero/Low-Commission Transactions to maximize student savings.</a:t>
            </a:r>
          </a:p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In-App Social Networking for community engagement and interest groups.</a:t>
            </a:r>
          </a:p>
          <a:p>
            <a:pPr algn="l">
              <a:lnSpc>
                <a:spcPts val="4100"/>
              </a:lnSpc>
            </a:pPr>
            <a:r>
              <a:rPr lang="en-US" sz="1749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Textbook &amp; Supplies Exchange for affordable academic materials.</a:t>
            </a:r>
          </a:p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Geo-Tagged Listings for university-specific, in-person exchanges.</a:t>
            </a:r>
          </a:p>
          <a:p>
            <a:pPr algn="l">
              <a:lnSpc>
                <a:spcPts val="4100"/>
              </a:lnSpc>
            </a:pPr>
            <a:r>
              <a:rPr lang="en-US" sz="1749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Premium Social/Dating Features for additional revenue (3.85B TRY</a:t>
            </a:r>
          </a:p>
          <a:p>
            <a:pPr algn="l">
              <a:lnSpc>
                <a:spcPts val="874"/>
              </a:lnSpc>
            </a:pPr>
            <a:r>
              <a:rPr lang="en-US" sz="1749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market).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22797" y="3804771"/>
            <a:ext cx="7077246" cy="122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749">
                <a:solidFill>
                  <a:srgbClr val="2C3E50"/>
                </a:solidFill>
                <a:latin typeface="Arial Bold"/>
                <a:ea typeface="Arial Bold"/>
                <a:cs typeface="Arial Bold"/>
                <a:sym typeface="Arial Bold"/>
              </a:rPr>
              <a:t>Goals</a:t>
            </a:r>
            <a:r>
              <a:rPr lang="en-US" sz="1749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: Addresseconomic pressures and social needs of 7.08M Turkish university students in a $27.5B e-commerce market.</a:t>
            </a:r>
          </a:p>
          <a:p>
            <a:pPr algn="l">
              <a:lnSpc>
                <a:spcPts val="4100"/>
              </a:lnSpc>
            </a:pPr>
            <a:r>
              <a:rPr lang="en-US" b="true" sz="1749">
                <a:solidFill>
                  <a:srgbClr val="2C3E50"/>
                </a:solidFill>
                <a:latin typeface="Arial Bold"/>
                <a:ea typeface="Arial Bold"/>
                <a:cs typeface="Arial Bold"/>
                <a:sym typeface="Arial Bold"/>
              </a:rPr>
              <a:t>MVP</a:t>
            </a:r>
            <a:r>
              <a:rPr lang="en-US" sz="1749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: Hyper-local C2C marketplace and social network for cost-</a:t>
            </a:r>
          </a:p>
          <a:p>
            <a:pPr algn="l">
              <a:lnSpc>
                <a:spcPts val="874"/>
              </a:lnSpc>
            </a:pPr>
            <a:r>
              <a:rPr lang="en-US" sz="1749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effective transactions and community building in major university hubs.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42797" y="3804771"/>
            <a:ext cx="7102288" cy="3081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749">
                <a:solidFill>
                  <a:srgbClr val="2C3E50"/>
                </a:solidFill>
                <a:latin typeface="Arial Bold"/>
                <a:ea typeface="Arial Bold"/>
                <a:cs typeface="Arial Bold"/>
                <a:sym typeface="Arial Bold"/>
              </a:rPr>
              <a:t>Differentiation</a:t>
            </a:r>
            <a:r>
              <a:rPr lang="en-US" sz="1749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: Tailored for students, hyper-local, low-cost, with integrated social features, unlike high-fee general C2C platforms.</a:t>
            </a:r>
          </a:p>
          <a:p>
            <a:pPr algn="l">
              <a:lnSpc>
                <a:spcPts val="4100"/>
              </a:lnSpc>
            </a:pPr>
            <a:r>
              <a:rPr lang="en-US" b="true" sz="1749">
                <a:solidFill>
                  <a:srgbClr val="2C3E50"/>
                </a:solidFill>
                <a:latin typeface="Arial Bold"/>
                <a:ea typeface="Arial Bold"/>
                <a:cs typeface="Arial Bold"/>
                <a:sym typeface="Arial Bold"/>
              </a:rPr>
              <a:t>Pain Relievers</a:t>
            </a:r>
            <a:r>
              <a:rPr lang="en-US" sz="1749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: Eliminates high commissions (up to 25%) and</a:t>
            </a:r>
          </a:p>
          <a:p>
            <a:pPr algn="l">
              <a:lnSpc>
                <a:spcPts val="874"/>
              </a:lnSpc>
            </a:pPr>
            <a:r>
              <a:rPr lang="en-US" sz="1749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shipping costs, addressing 67% inflation and limited budgets (6,000</a:t>
            </a:r>
          </a:p>
          <a:p>
            <a:pPr algn="l">
              <a:lnSpc>
                <a:spcPts val="3324"/>
              </a:lnSpc>
            </a:pPr>
            <a:r>
              <a:rPr lang="en-US" sz="1749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TRY/month).</a:t>
            </a:r>
          </a:p>
          <a:p>
            <a:pPr algn="l">
              <a:lnSpc>
                <a:spcPts val="2875"/>
              </a:lnSpc>
            </a:pPr>
            <a:r>
              <a:rPr lang="en-US" b="true" sz="1749">
                <a:solidFill>
                  <a:srgbClr val="2C3E50"/>
                </a:solidFill>
                <a:latin typeface="Arial Bold"/>
                <a:ea typeface="Arial Bold"/>
                <a:cs typeface="Arial Bold"/>
                <a:sym typeface="Arial Bold"/>
              </a:rPr>
              <a:t>Gain Creators</a:t>
            </a:r>
            <a:r>
              <a:rPr lang="en-US" sz="1749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: Saves money, generates income via sales, and fosters</a:t>
            </a:r>
          </a:p>
          <a:p>
            <a:pPr algn="l">
              <a:lnSpc>
                <a:spcPts val="1324"/>
              </a:lnSpc>
            </a:pPr>
            <a:r>
              <a:rPr lang="en-US" sz="1749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community connections.</a:t>
            </a:r>
          </a:p>
          <a:p>
            <a:pPr algn="l">
              <a:lnSpc>
                <a:spcPts val="4374"/>
              </a:lnSpc>
            </a:pPr>
            <a:r>
              <a:rPr lang="en-US" b="true" sz="1749">
                <a:solidFill>
                  <a:srgbClr val="2C3E50"/>
                </a:solidFill>
                <a:latin typeface="Arial Bold"/>
                <a:ea typeface="Arial Bold"/>
                <a:cs typeface="Arial Bold"/>
                <a:sym typeface="Arial Bold"/>
              </a:rPr>
              <a:t>Feasibility</a:t>
            </a:r>
            <a:r>
              <a:rPr lang="en-US" sz="1749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: High smartphone penetration (90%), e-commerce</a:t>
            </a:r>
          </a:p>
          <a:p>
            <a:pPr algn="l">
              <a:lnSpc>
                <a:spcPts val="874"/>
              </a:lnSpc>
            </a:pPr>
            <a:r>
              <a:rPr lang="en-US" sz="1749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adoption, and concentrated student base (300,000 in 10 major</a:t>
            </a:r>
          </a:p>
          <a:p>
            <a:pPr algn="l">
              <a:lnSpc>
                <a:spcPts val="3324"/>
              </a:lnSpc>
            </a:pPr>
            <a:r>
              <a:rPr lang="en-US" sz="1749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universities). Year 1: 15,000 users, 372,250 TRY revenue.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DAGvaCiJsys</dc:identifier>
  <dcterms:modified xsi:type="dcterms:W3CDTF">2011-08-01T06:04:30Z</dcterms:modified>
  <cp:revision>1</cp:revision>
  <dc:title>CampusConnect Solution Slide (1) (1).pdf</dc:title>
</cp:coreProperties>
</file>