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8128000" cy="4572000"/>
  <p:notesSz cx="8128000" cy="4572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09600" y="1417320"/>
            <a:ext cx="6908800" cy="960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50" b="0" i="0">
                <a:solidFill>
                  <a:srgbClr val="282D67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219200" y="2560320"/>
            <a:ext cx="5689600" cy="1143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0F0F0F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50" b="0" i="0">
                <a:solidFill>
                  <a:srgbClr val="282D67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0F0F0F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50" b="0" i="0">
                <a:solidFill>
                  <a:srgbClr val="282D67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06400" y="1051560"/>
            <a:ext cx="3535680" cy="3017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185920" y="1051560"/>
            <a:ext cx="3535680" cy="3017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50" b="0" i="0">
                <a:solidFill>
                  <a:srgbClr val="282D67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1127" y="329438"/>
            <a:ext cx="3357803" cy="459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50" b="0" i="0">
                <a:solidFill>
                  <a:srgbClr val="282D67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97467" y="853185"/>
            <a:ext cx="7333065" cy="23514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0F0F0F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763520" y="4251960"/>
            <a:ext cx="2600960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06400" y="4251960"/>
            <a:ext cx="1869440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852160" y="4251960"/>
            <a:ext cx="1869440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hyperlink" Target="https://www.presentations.ai/?utm_source=free_pdf_download&amp;utm_medium=presentation&amp;utm_campaign=Created%20using%20Presentations.ai" TargetMode="External"/><Relationship Id="rId4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hyperlink" Target="https://www.presentations.ai/?utm_source=free_pdf_download&amp;utm_medium=presentation&amp;utm_campaign=Created%20using%20Presentations.ai" TargetMode="Externa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presentations.ai/?utm_source=free_pdf_download&amp;utm_medium=presentation&amp;utm_campaign=Created%20using%20Presentations.ai" TargetMode="Externa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hyperlink" Target="https://www.presentations.ai/?utm_source=free_pdf_download&amp;utm_medium=presentation&amp;utm_campaign=Created%20using%20Presentations.ai" TargetMode="Externa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jp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hyperlink" Target="https://www.presentations.ai/?utm_source=free_pdf_download&amp;utm_medium=presentation&amp;utm_campaign=Created%20using%20Presentations.ai" TargetMode="Externa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Relationship Id="rId3" Type="http://schemas.openxmlformats.org/officeDocument/2006/relationships/hyperlink" Target="https://www.presentations.ai/?utm_source=free_pdf_download&amp;utm_medium=presentation&amp;utm_campaign=Created%20using%20Presentations.ai" TargetMode="Externa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Relationship Id="rId3" Type="http://schemas.openxmlformats.org/officeDocument/2006/relationships/hyperlink" Target="https://www.presentations.ai/?utm_source=free_pdf_download&amp;utm_medium=presentation&amp;utm_campaign=Created%20using%20Presentations.ai" TargetMode="Externa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8128000" cy="4572000"/>
            <a:chOff x="0" y="0"/>
            <a:chExt cx="8128000" cy="4572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8128000" cy="4572000"/>
            </a:xfrm>
            <a:prstGeom prst="rect">
              <a:avLst/>
            </a:prstGeom>
          </p:spPr>
        </p:pic>
        <p:pic>
          <p:nvPicPr>
            <p:cNvPr id="4" name="object 4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20933" y="4199466"/>
              <a:ext cx="1337733" cy="203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5714" y="1633727"/>
            <a:ext cx="621714" cy="621791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402285" y="1633727"/>
            <a:ext cx="622300" cy="628015"/>
            <a:chOff x="402285" y="1633727"/>
            <a:chExt cx="622300" cy="628015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2285" y="1633727"/>
              <a:ext cx="621714" cy="627887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2285" y="1633727"/>
              <a:ext cx="621714" cy="627887"/>
            </a:xfrm>
            <a:prstGeom prst="rect">
              <a:avLst/>
            </a:prstGeom>
          </p:spPr>
        </p:pic>
      </p:grpSp>
      <p:grpSp>
        <p:nvGrpSpPr>
          <p:cNvPr id="6" name="object 6" descr=""/>
          <p:cNvGrpSpPr/>
          <p:nvPr/>
        </p:nvGrpSpPr>
        <p:grpSpPr>
          <a:xfrm>
            <a:off x="5436952" y="1633727"/>
            <a:ext cx="622300" cy="628015"/>
            <a:chOff x="5436952" y="1633727"/>
            <a:chExt cx="622300" cy="628015"/>
          </a:xfrm>
        </p:grpSpPr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36952" y="1633727"/>
              <a:ext cx="621714" cy="627887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36952" y="1633727"/>
              <a:ext cx="621714" cy="627887"/>
            </a:xfrm>
            <a:prstGeom prst="rect">
              <a:avLst/>
            </a:prstGeom>
          </p:spPr>
        </p:pic>
      </p:grpSp>
      <p:sp>
        <p:nvSpPr>
          <p:cNvPr id="9" name="object 9" descr="">
            <a:hlinkClick r:id="rId7"/>
          </p:cNvPr>
          <p:cNvSpPr/>
          <p:nvPr/>
        </p:nvSpPr>
        <p:spPr>
          <a:xfrm>
            <a:off x="6613333" y="4194047"/>
            <a:ext cx="1350645" cy="210820"/>
          </a:xfrm>
          <a:custGeom>
            <a:avLst/>
            <a:gdLst/>
            <a:ahLst/>
            <a:cxnLst/>
            <a:rect l="l" t="t" r="r" b="b"/>
            <a:pathLst>
              <a:path w="1350645" h="210820">
                <a:moveTo>
                  <a:pt x="1350264" y="210311"/>
                </a:moveTo>
                <a:lnTo>
                  <a:pt x="0" y="210311"/>
                </a:lnTo>
                <a:lnTo>
                  <a:pt x="0" y="0"/>
                </a:lnTo>
                <a:lnTo>
                  <a:pt x="1350264" y="0"/>
                </a:lnTo>
                <a:lnTo>
                  <a:pt x="1350264" y="2103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92793" y="358902"/>
            <a:ext cx="1636395" cy="3073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 spc="-80">
                <a:solidFill>
                  <a:srgbClr val="2A2A60"/>
                </a:solidFill>
              </a:rPr>
              <a:t>Project</a:t>
            </a:r>
            <a:r>
              <a:rPr dirty="0" sz="1850" spc="-70">
                <a:solidFill>
                  <a:srgbClr val="2A2A60"/>
                </a:solidFill>
              </a:rPr>
              <a:t> </a:t>
            </a:r>
            <a:r>
              <a:rPr dirty="0" sz="1850" spc="-75">
                <a:solidFill>
                  <a:srgbClr val="2D2D66"/>
                </a:solidFill>
              </a:rPr>
              <a:t>Overview</a:t>
            </a:r>
            <a:endParaRPr sz="1850"/>
          </a:p>
        </p:txBody>
      </p:sp>
      <p:sp>
        <p:nvSpPr>
          <p:cNvPr id="14" name="object 14" descr=""/>
          <p:cNvSpPr txBox="1"/>
          <p:nvPr/>
        </p:nvSpPr>
        <p:spPr>
          <a:xfrm>
            <a:off x="6649349" y="4237591"/>
            <a:ext cx="443865" cy="1193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z="650" spc="-85">
                <a:solidFill>
                  <a:srgbClr val="FFFFFF"/>
                </a:solidFill>
                <a:latin typeface="Courier New"/>
                <a:cs typeface="Courier New"/>
                <a:hlinkClick r:id="rId7"/>
              </a:rPr>
              <a:t>^œn'ea</a:t>
            </a:r>
            <a:r>
              <a:rPr dirty="0" sz="650" spc="-65">
                <a:solidFill>
                  <a:srgbClr val="FFFFFF"/>
                </a:solidFill>
                <a:latin typeface="Courier New"/>
                <a:cs typeface="Courier New"/>
                <a:hlinkClick r:id="rId7"/>
              </a:rPr>
              <a:t> </a:t>
            </a:r>
            <a:r>
              <a:rPr dirty="0" sz="650" spc="-95">
                <a:solidFill>
                  <a:srgbClr val="FFFFFF"/>
                </a:solidFill>
                <a:latin typeface="Courier New"/>
                <a:cs typeface="Courier New"/>
                <a:hlinkClick r:id="rId7"/>
              </a:rPr>
              <a:t>1°nç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272343" y="4237591"/>
            <a:ext cx="553720" cy="1193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z="650" spc="-70">
                <a:solidFill>
                  <a:srgbClr val="FFFFFF"/>
                </a:solidFill>
                <a:latin typeface="Courier New"/>
                <a:cs typeface="Courier New"/>
                <a:hlinkClick r:id="rId7"/>
              </a:rPr>
              <a:t>preseutotions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94660" y="2424429"/>
            <a:ext cx="2085975" cy="664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070A23"/>
                </a:solidFill>
                <a:latin typeface="Arial MT"/>
                <a:cs typeface="Arial MT"/>
              </a:rPr>
              <a:t>A</a:t>
            </a:r>
            <a:r>
              <a:rPr dirty="0" sz="850" spc="204">
                <a:solidFill>
                  <a:srgbClr val="070A23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11111"/>
                </a:solidFill>
                <a:latin typeface="Arial MT"/>
                <a:cs typeface="Arial MT"/>
              </a:rPr>
              <a:t>simple</a:t>
            </a:r>
            <a:r>
              <a:rPr dirty="0" sz="850" spc="27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object-oriented</a:t>
            </a:r>
            <a:r>
              <a:rPr dirty="0" sz="850" spc="5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31313"/>
                </a:solidFill>
                <a:latin typeface="Arial MT"/>
                <a:cs typeface="Arial MT"/>
              </a:rPr>
              <a:t>drawing</a:t>
            </a:r>
            <a:r>
              <a:rPr dirty="0" sz="850" spc="28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F0F0F"/>
                </a:solidFill>
                <a:latin typeface="Arial MT"/>
                <a:cs typeface="Arial MT"/>
              </a:rPr>
              <a:t>editor.</a:t>
            </a:r>
            <a:endParaRPr sz="850">
              <a:latin typeface="Arial MT"/>
              <a:cs typeface="Arial MT"/>
            </a:endParaRPr>
          </a:p>
          <a:p>
            <a:pPr marL="12700" marR="111760" indent="3810">
              <a:lnSpc>
                <a:spcPct val="111800"/>
              </a:lnSpc>
              <a:spcBef>
                <a:spcPts val="585"/>
              </a:spcBef>
            </a:pPr>
            <a:r>
              <a:rPr dirty="0" sz="850">
                <a:solidFill>
                  <a:srgbClr val="0E0E0E"/>
                </a:solidFill>
                <a:latin typeface="Arial MT"/>
                <a:cs typeface="Arial MT"/>
              </a:rPr>
              <a:t>An</a:t>
            </a:r>
            <a:r>
              <a:rPr dirty="0" sz="850" spc="-1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E0E0E"/>
                </a:solidFill>
                <a:latin typeface="Arial MT"/>
                <a:cs typeface="Arial MT"/>
              </a:rPr>
              <a:t>application</a:t>
            </a:r>
            <a:r>
              <a:rPr dirty="0" sz="850" spc="4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E0E0E"/>
                </a:solidFill>
                <a:latin typeface="Arial MT"/>
                <a:cs typeface="Arial MT"/>
              </a:rPr>
              <a:t>designed</a:t>
            </a:r>
            <a:r>
              <a:rPr dirty="0" sz="850" spc="8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to</a:t>
            </a:r>
            <a:r>
              <a:rPr dirty="0" sz="850" spc="-2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create</a:t>
            </a:r>
            <a:r>
              <a:rPr dirty="0" sz="850" spc="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0F0F0F"/>
                </a:solidFill>
                <a:latin typeface="Arial MT"/>
                <a:cs typeface="Arial MT"/>
              </a:rPr>
              <a:t>and </a:t>
            </a:r>
            <a:r>
              <a:rPr dirty="0" sz="850" spc="-10">
                <a:solidFill>
                  <a:srgbClr val="0F0F0F"/>
                </a:solidFill>
                <a:latin typeface="Arial MT"/>
                <a:cs typeface="Arial MT"/>
              </a:rPr>
              <a:t>manipulate</a:t>
            </a:r>
            <a:r>
              <a:rPr dirty="0" sz="850" spc="6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E0E0E"/>
                </a:solidFill>
                <a:latin typeface="Arial MT"/>
                <a:cs typeface="Arial MT"/>
              </a:rPr>
              <a:t>graphical</a:t>
            </a:r>
            <a:r>
              <a:rPr dirty="0" sz="850" spc="3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C0C0C"/>
                </a:solidFill>
                <a:latin typeface="Arial MT"/>
                <a:cs typeface="Arial MT"/>
              </a:rPr>
              <a:t>objects</a:t>
            </a:r>
            <a:r>
              <a:rPr dirty="0" sz="850" spc="1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E0E0E"/>
                </a:solidFill>
                <a:latin typeface="Arial MT"/>
                <a:cs typeface="Arial MT"/>
              </a:rPr>
              <a:t>using</a:t>
            </a:r>
            <a:r>
              <a:rPr dirty="0" sz="850" spc="2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111111"/>
                </a:solidFill>
                <a:latin typeface="Arial MT"/>
                <a:cs typeface="Arial MT"/>
              </a:rPr>
              <a:t>OOP </a:t>
            </a:r>
            <a:r>
              <a:rPr dirty="0" sz="850" spc="-10">
                <a:solidFill>
                  <a:srgbClr val="0A0A0A"/>
                </a:solidFill>
                <a:latin typeface="Arial MT"/>
                <a:cs typeface="Arial MT"/>
              </a:rPr>
              <a:t>principles.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910624" y="2386329"/>
            <a:ext cx="2286635" cy="869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510" marR="5080" indent="-4445">
              <a:lnSpc>
                <a:spcPct val="129400"/>
              </a:lnSpc>
              <a:spcBef>
                <a:spcPts val="100"/>
              </a:spcBef>
            </a:pPr>
            <a:r>
              <a:rPr dirty="0" sz="850" spc="10">
                <a:solidFill>
                  <a:srgbClr val="131313"/>
                </a:solidFill>
                <a:latin typeface="Arial MT"/>
                <a:cs typeface="Arial MT"/>
              </a:rPr>
              <a:t>Key</a:t>
            </a:r>
            <a:r>
              <a:rPr dirty="0" sz="850" spc="1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850" spc="10">
                <a:solidFill>
                  <a:srgbClr val="0F0F0F"/>
                </a:solidFill>
                <a:latin typeface="Arial MT"/>
                <a:cs typeface="Arial MT"/>
              </a:rPr>
              <a:t>Technologies:</a:t>
            </a:r>
            <a:r>
              <a:rPr dirty="0" sz="850" spc="11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11111"/>
                </a:solidFill>
                <a:latin typeface="Arial MT"/>
                <a:cs typeface="Arial MT"/>
              </a:rPr>
              <a:t>Java,</a:t>
            </a:r>
            <a:r>
              <a:rPr dirty="0" sz="850" spc="-5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50" spc="10">
                <a:solidFill>
                  <a:srgbClr val="0F0F0F"/>
                </a:solidFill>
                <a:latin typeface="Arial MT"/>
                <a:cs typeface="Arial MT"/>
              </a:rPr>
              <a:t>Swing</a:t>
            </a:r>
            <a:r>
              <a:rPr dirty="0" sz="850" spc="4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10">
                <a:solidFill>
                  <a:srgbClr val="898C9A"/>
                </a:solidFill>
                <a:latin typeface="Arial MT"/>
                <a:cs typeface="Arial MT"/>
              </a:rPr>
              <a:t>for</a:t>
            </a:r>
            <a:r>
              <a:rPr dirty="0" sz="850" spc="35">
                <a:solidFill>
                  <a:srgbClr val="898C9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GUI,</a:t>
            </a:r>
            <a:r>
              <a:rPr dirty="0" sz="850" spc="-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131313"/>
                </a:solidFill>
                <a:latin typeface="Arial MT"/>
                <a:cs typeface="Arial MT"/>
              </a:rPr>
              <a:t>AWT </a:t>
            </a:r>
            <a:r>
              <a:rPr dirty="0" sz="850">
                <a:solidFill>
                  <a:srgbClr val="111111"/>
                </a:solidFill>
                <a:latin typeface="Arial MT"/>
                <a:cs typeface="Arial MT"/>
              </a:rPr>
              <a:t>for</a:t>
            </a:r>
            <a:r>
              <a:rPr dirty="0" sz="850" spc="9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30728"/>
                </a:solidFill>
                <a:latin typeface="Arial MT"/>
                <a:cs typeface="Arial MT"/>
              </a:rPr>
              <a:t>2D</a:t>
            </a:r>
            <a:r>
              <a:rPr dirty="0" sz="850" spc="-60">
                <a:solidFill>
                  <a:srgbClr val="030728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E0E0E"/>
                </a:solidFill>
                <a:latin typeface="Arial MT"/>
                <a:cs typeface="Arial MT"/>
              </a:rPr>
              <a:t>graphics.</a:t>
            </a:r>
            <a:endParaRPr sz="850">
              <a:latin typeface="Arial MT"/>
              <a:cs typeface="Arial MT"/>
            </a:endParaRPr>
          </a:p>
          <a:p>
            <a:pPr marL="13970" marR="52705" indent="-1905">
              <a:lnSpc>
                <a:spcPct val="110600"/>
              </a:lnSpc>
              <a:spcBef>
                <a:spcPts val="625"/>
              </a:spcBef>
            </a:pPr>
            <a:r>
              <a:rPr dirty="0" sz="850">
                <a:solidFill>
                  <a:srgbClr val="0C0C0C"/>
                </a:solidFill>
                <a:latin typeface="Arial MT"/>
                <a:cs typeface="Arial MT"/>
              </a:rPr>
              <a:t>Utilizes </a:t>
            </a:r>
            <a:r>
              <a:rPr dirty="0" sz="850" spc="-20">
                <a:solidFill>
                  <a:srgbClr val="0E0E0E"/>
                </a:solidFill>
                <a:latin typeface="Arial MT"/>
                <a:cs typeface="Arial MT"/>
              </a:rPr>
              <a:t>Java</a:t>
            </a:r>
            <a:r>
              <a:rPr dirty="0" sz="850" spc="-4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C0C0C"/>
                </a:solidFill>
                <a:latin typeface="Arial MT"/>
                <a:cs typeface="Arial MT"/>
              </a:rPr>
              <a:t>programming</a:t>
            </a:r>
            <a:r>
              <a:rPr dirty="0" sz="850" spc="-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C0C0C"/>
                </a:solidFill>
                <a:latin typeface="Arial MT"/>
                <a:cs typeface="Arial MT"/>
              </a:rPr>
              <a:t>language </a:t>
            </a:r>
            <a:r>
              <a:rPr dirty="0" sz="850" spc="-10">
                <a:solidFill>
                  <a:srgbClr val="0C0C0C"/>
                </a:solidFill>
                <a:latin typeface="Arial MT"/>
                <a:cs typeface="Arial MT"/>
              </a:rPr>
              <a:t>along 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with </a:t>
            </a:r>
            <a:r>
              <a:rPr dirty="0" sz="850">
                <a:solidFill>
                  <a:srgbClr val="0C0C0C"/>
                </a:solidFill>
                <a:latin typeface="Arial MT"/>
                <a:cs typeface="Arial MT"/>
              </a:rPr>
              <a:t>Swing</a:t>
            </a:r>
            <a:r>
              <a:rPr dirty="0" sz="850" spc="1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A0A0A"/>
                </a:solidFill>
                <a:latin typeface="Arial MT"/>
                <a:cs typeface="Arial MT"/>
              </a:rPr>
              <a:t>for</a:t>
            </a:r>
            <a:r>
              <a:rPr dirty="0" sz="850" spc="2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E0E0E"/>
                </a:solidFill>
                <a:latin typeface="Arial MT"/>
                <a:cs typeface="Arial MT"/>
              </a:rPr>
              <a:t>building</a:t>
            </a:r>
            <a:r>
              <a:rPr dirty="0" sz="850" spc="3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C0C0C"/>
                </a:solidFill>
                <a:latin typeface="Arial MT"/>
                <a:cs typeface="Arial MT"/>
              </a:rPr>
              <a:t>the graphical</a:t>
            </a:r>
            <a:r>
              <a:rPr dirty="0" sz="850" spc="2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 spc="-20">
                <a:solidFill>
                  <a:srgbClr val="0F0F0F"/>
                </a:solidFill>
                <a:latin typeface="Arial MT"/>
                <a:cs typeface="Arial MT"/>
              </a:rPr>
              <a:t>user </a:t>
            </a:r>
            <a:r>
              <a:rPr dirty="0" sz="850">
                <a:solidFill>
                  <a:srgbClr val="0A0A0A"/>
                </a:solidFill>
                <a:latin typeface="Arial MT"/>
                <a:cs typeface="Arial MT"/>
              </a:rPr>
              <a:t>interface</a:t>
            </a:r>
            <a:r>
              <a:rPr dirty="0" sz="850" spc="45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and</a:t>
            </a:r>
            <a:r>
              <a:rPr dirty="0" sz="850" spc="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F0F0F"/>
                </a:solidFill>
                <a:latin typeface="Arial MT"/>
                <a:cs typeface="Arial MT"/>
              </a:rPr>
              <a:t>AWT</a:t>
            </a:r>
            <a:r>
              <a:rPr dirty="0" sz="850" spc="2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C0C0C"/>
                </a:solidFill>
                <a:latin typeface="Arial MT"/>
                <a:cs typeface="Arial MT"/>
              </a:rPr>
              <a:t>for</a:t>
            </a:r>
            <a:r>
              <a:rPr dirty="0" sz="850" spc="4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rendering</a:t>
            </a:r>
            <a:r>
              <a:rPr dirty="0" sz="850" spc="2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E0E0E"/>
                </a:solidFill>
                <a:latin typeface="Arial MT"/>
                <a:cs typeface="Arial MT"/>
              </a:rPr>
              <a:t>2D</a:t>
            </a:r>
            <a:r>
              <a:rPr dirty="0" sz="850" spc="-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F0F0F"/>
                </a:solidFill>
                <a:latin typeface="Arial MT"/>
                <a:cs typeface="Arial MT"/>
              </a:rPr>
              <a:t>graphics.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429116" y="2386329"/>
            <a:ext cx="2152015" cy="104076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96520" indent="1905">
              <a:lnSpc>
                <a:spcPct val="130600"/>
              </a:lnSpc>
              <a:spcBef>
                <a:spcPts val="85"/>
              </a:spcBef>
            </a:pPr>
            <a:r>
              <a:rPr dirty="0" sz="850" spc="10">
                <a:solidFill>
                  <a:srgbClr val="111111"/>
                </a:solidFill>
                <a:latin typeface="Arial MT"/>
                <a:cs typeface="Arial MT"/>
              </a:rPr>
              <a:t>Core</a:t>
            </a:r>
            <a:r>
              <a:rPr dirty="0" sz="850" spc="2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50" spc="10">
                <a:solidFill>
                  <a:srgbClr val="0F0F0F"/>
                </a:solidFill>
                <a:latin typeface="Arial MT"/>
                <a:cs typeface="Arial MT"/>
              </a:rPr>
              <a:t>Purpose:</a:t>
            </a:r>
            <a:r>
              <a:rPr dirty="0" sz="850" spc="6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11111"/>
                </a:solidFill>
                <a:latin typeface="Arial MT"/>
                <a:cs typeface="Arial MT"/>
              </a:rPr>
              <a:t>To</a:t>
            </a:r>
            <a:r>
              <a:rPr dirty="0" sz="850" spc="-2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50" spc="10">
                <a:solidFill>
                  <a:srgbClr val="0F0F0F"/>
                </a:solidFill>
                <a:latin typeface="Arial MT"/>
                <a:cs typeface="Arial MT"/>
              </a:rPr>
              <a:t>illustrate</a:t>
            </a:r>
            <a:r>
              <a:rPr dirty="0" sz="850" spc="8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C0C0C"/>
                </a:solidFill>
                <a:latin typeface="Arial MT"/>
                <a:cs typeface="Arial MT"/>
              </a:rPr>
              <a:t>fundamental 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Object-Oriented</a:t>
            </a:r>
            <a:r>
              <a:rPr dirty="0" sz="850" spc="6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b="1">
                <a:solidFill>
                  <a:srgbClr val="111111"/>
                </a:solidFill>
                <a:latin typeface="Arial"/>
                <a:cs typeface="Arial"/>
              </a:rPr>
              <a:t>Programming</a:t>
            </a:r>
            <a:r>
              <a:rPr dirty="0" sz="850" spc="38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111111"/>
                </a:solidFill>
                <a:latin typeface="Arial MT"/>
                <a:cs typeface="Arial MT"/>
              </a:rPr>
              <a:t>(OOP) </a:t>
            </a:r>
            <a:r>
              <a:rPr dirty="0" sz="850" spc="-10" b="1">
                <a:solidFill>
                  <a:srgbClr val="0C0C0C"/>
                </a:solidFill>
                <a:latin typeface="Arial"/>
                <a:cs typeface="Arial"/>
              </a:rPr>
              <a:t>principles.</a:t>
            </a:r>
            <a:endParaRPr sz="850">
              <a:latin typeface="Arial"/>
              <a:cs typeface="Arial"/>
            </a:endParaRPr>
          </a:p>
          <a:p>
            <a:pPr marL="15875" marR="5080" indent="1270">
              <a:lnSpc>
                <a:spcPct val="111800"/>
              </a:lnSpc>
              <a:spcBef>
                <a:spcPts val="590"/>
              </a:spcBef>
            </a:pP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The</a:t>
            </a:r>
            <a:r>
              <a:rPr dirty="0" sz="850" spc="-2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E0E0E"/>
                </a:solidFill>
                <a:latin typeface="Arial MT"/>
                <a:cs typeface="Arial MT"/>
              </a:rPr>
              <a:t>editor</a:t>
            </a:r>
            <a:r>
              <a:rPr dirty="0" sz="850" spc="6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E0E0E"/>
                </a:solidFill>
                <a:latin typeface="Arial MT"/>
                <a:cs typeface="Arial MT"/>
              </a:rPr>
              <a:t>serves</a:t>
            </a:r>
            <a:r>
              <a:rPr dirty="0" sz="850" spc="1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as</a:t>
            </a:r>
            <a:r>
              <a:rPr dirty="0" sz="850" spc="-2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11111"/>
                </a:solidFill>
                <a:latin typeface="Arial MT"/>
                <a:cs typeface="Arial MT"/>
              </a:rPr>
              <a:t>an</a:t>
            </a:r>
            <a:r>
              <a:rPr dirty="0" sz="850" spc="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A0A0A"/>
                </a:solidFill>
                <a:latin typeface="Arial MT"/>
                <a:cs typeface="Arial MT"/>
              </a:rPr>
              <a:t>interactive</a:t>
            </a:r>
            <a:r>
              <a:rPr dirty="0" sz="850" spc="8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C0C0C"/>
                </a:solidFill>
                <a:latin typeface="Arial MT"/>
                <a:cs typeface="Arial MT"/>
              </a:rPr>
              <a:t>tool</a:t>
            </a:r>
            <a:r>
              <a:rPr dirty="0" sz="850" spc="2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0F0F0F"/>
                </a:solidFill>
                <a:latin typeface="Arial MT"/>
                <a:cs typeface="Arial MT"/>
              </a:rPr>
              <a:t>for </a:t>
            </a:r>
            <a:r>
              <a:rPr dirty="0" sz="850">
                <a:solidFill>
                  <a:srgbClr val="0E0E0E"/>
                </a:solidFill>
                <a:latin typeface="Arial MT"/>
                <a:cs typeface="Arial MT"/>
              </a:rPr>
              <a:t>demonstrating</a:t>
            </a:r>
            <a:r>
              <a:rPr dirty="0" sz="850" spc="6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C0C0C"/>
                </a:solidFill>
                <a:latin typeface="Arial MT"/>
                <a:cs typeface="Arial MT"/>
              </a:rPr>
              <a:t>essential</a:t>
            </a:r>
            <a:r>
              <a:rPr dirty="0" sz="850" spc="4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E0E0E"/>
                </a:solidFill>
                <a:latin typeface="Arial MT"/>
                <a:cs typeface="Arial MT"/>
              </a:rPr>
              <a:t>OOP </a:t>
            </a:r>
            <a:r>
              <a:rPr dirty="0" sz="850">
                <a:solidFill>
                  <a:srgbClr val="0C0C0C"/>
                </a:solidFill>
                <a:latin typeface="Arial MT"/>
                <a:cs typeface="Arial MT"/>
              </a:rPr>
              <a:t>concepts</a:t>
            </a:r>
            <a:r>
              <a:rPr dirty="0" sz="850" spc="2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11111"/>
                </a:solidFill>
                <a:latin typeface="Arial MT"/>
                <a:cs typeface="Arial MT"/>
              </a:rPr>
              <a:t>in</a:t>
            </a:r>
            <a:r>
              <a:rPr dirty="0" sz="85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50" spc="-50">
                <a:solidFill>
                  <a:srgbClr val="0F0F0F"/>
                </a:solidFill>
                <a:latin typeface="Arial MT"/>
                <a:cs typeface="Arial MT"/>
              </a:rPr>
              <a:t>a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C0C0C"/>
                </a:solidFill>
                <a:latin typeface="Arial MT"/>
                <a:cs typeface="Arial MT"/>
              </a:rPr>
              <a:t>practical</a:t>
            </a:r>
            <a:r>
              <a:rPr dirty="0" sz="850" spc="8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E0E0E"/>
                </a:solidFill>
                <a:latin typeface="Arial MT"/>
                <a:cs typeface="Arial MT"/>
              </a:rPr>
              <a:t>setting.</a:t>
            </a:r>
            <a:endParaRPr sz="8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>
            <a:hlinkClick r:id="rId2"/>
          </p:cNvPr>
          <p:cNvSpPr/>
          <p:nvPr/>
        </p:nvSpPr>
        <p:spPr>
          <a:xfrm>
            <a:off x="6613333" y="4194047"/>
            <a:ext cx="1350645" cy="210820"/>
          </a:xfrm>
          <a:custGeom>
            <a:avLst/>
            <a:gdLst/>
            <a:ahLst/>
            <a:cxnLst/>
            <a:rect l="l" t="t" r="r" b="b"/>
            <a:pathLst>
              <a:path w="1350645" h="210820">
                <a:moveTo>
                  <a:pt x="1350264" y="210311"/>
                </a:moveTo>
                <a:lnTo>
                  <a:pt x="0" y="210311"/>
                </a:lnTo>
                <a:lnTo>
                  <a:pt x="0" y="0"/>
                </a:lnTo>
                <a:lnTo>
                  <a:pt x="1350264" y="0"/>
                </a:lnTo>
                <a:lnTo>
                  <a:pt x="1350264" y="2103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3159" y="349503"/>
            <a:ext cx="2329180" cy="314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135">
                <a:solidFill>
                  <a:srgbClr val="2A2D64"/>
                </a:solidFill>
              </a:rPr>
              <a:t>OOP</a:t>
            </a:r>
            <a:r>
              <a:rPr dirty="0" sz="1900" spc="-165">
                <a:solidFill>
                  <a:srgbClr val="2A2D64"/>
                </a:solidFill>
              </a:rPr>
              <a:t> </a:t>
            </a:r>
            <a:r>
              <a:rPr dirty="0" sz="1900" spc="-125">
                <a:solidFill>
                  <a:srgbClr val="2D2A5D"/>
                </a:solidFill>
              </a:rPr>
              <a:t>Principles</a:t>
            </a:r>
            <a:r>
              <a:rPr dirty="0" sz="1900" spc="-25">
                <a:solidFill>
                  <a:srgbClr val="2D2A5D"/>
                </a:solidFill>
              </a:rPr>
              <a:t> </a:t>
            </a:r>
            <a:r>
              <a:rPr dirty="0" sz="1900" spc="-135">
                <a:solidFill>
                  <a:srgbClr val="2B2A69"/>
                </a:solidFill>
              </a:rPr>
              <a:t>in</a:t>
            </a:r>
            <a:r>
              <a:rPr dirty="0" sz="1900" spc="-140">
                <a:solidFill>
                  <a:srgbClr val="2B2A69"/>
                </a:solidFill>
              </a:rPr>
              <a:t> </a:t>
            </a:r>
            <a:r>
              <a:rPr dirty="0" sz="1900" spc="-70">
                <a:solidFill>
                  <a:srgbClr val="3B3F67"/>
                </a:solidFill>
              </a:rPr>
              <a:t>Action</a:t>
            </a:r>
            <a:endParaRPr sz="1900"/>
          </a:p>
        </p:txBody>
      </p:sp>
      <p:sp>
        <p:nvSpPr>
          <p:cNvPr id="5" name="object 5" descr=""/>
          <p:cNvSpPr txBox="1"/>
          <p:nvPr/>
        </p:nvSpPr>
        <p:spPr>
          <a:xfrm>
            <a:off x="6649349" y="4237591"/>
            <a:ext cx="443865" cy="1193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z="650" spc="-85">
                <a:solidFill>
                  <a:srgbClr val="FFFFFF"/>
                </a:solidFill>
                <a:latin typeface="Courier New"/>
                <a:cs typeface="Courier New"/>
                <a:hlinkClick r:id="rId2"/>
              </a:rPr>
              <a:t>^œn'ea</a:t>
            </a:r>
            <a:r>
              <a:rPr dirty="0" sz="650" spc="-65">
                <a:solidFill>
                  <a:srgbClr val="FFFFFF"/>
                </a:solidFill>
                <a:latin typeface="Courier New"/>
                <a:cs typeface="Courier New"/>
                <a:hlinkClick r:id="rId2"/>
              </a:rPr>
              <a:t> </a:t>
            </a:r>
            <a:r>
              <a:rPr dirty="0" sz="650" spc="-95">
                <a:solidFill>
                  <a:srgbClr val="FFFFFF"/>
                </a:solidFill>
                <a:latin typeface="Courier New"/>
                <a:cs typeface="Courier New"/>
                <a:hlinkClick r:id="rId2"/>
              </a:rPr>
              <a:t>1°nç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272343" y="4237591"/>
            <a:ext cx="553720" cy="1193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z="650" spc="-70">
                <a:solidFill>
                  <a:srgbClr val="FFFFFF"/>
                </a:solidFill>
                <a:latin typeface="Courier New"/>
                <a:cs typeface="Courier New"/>
                <a:hlinkClick r:id="rId2"/>
              </a:rPr>
              <a:t>preseutotions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9215" rIns="0" bIns="0" rtlCol="0" vert="horz">
            <a:spAutoFit/>
          </a:bodyPr>
          <a:lstStyle/>
          <a:p>
            <a:pPr marL="183515">
              <a:lnSpc>
                <a:spcPct val="100000"/>
              </a:lnSpc>
              <a:spcBef>
                <a:spcPts val="545"/>
              </a:spcBef>
            </a:pPr>
            <a:r>
              <a:rPr dirty="0"/>
              <a:t>Inheritance</a:t>
            </a:r>
            <a:r>
              <a:rPr dirty="0" spc="185"/>
              <a:t> </a:t>
            </a:r>
            <a:r>
              <a:rPr dirty="0">
                <a:solidFill>
                  <a:srgbClr val="131313"/>
                </a:solidFill>
              </a:rPr>
              <a:t>allows</a:t>
            </a:r>
            <a:r>
              <a:rPr dirty="0" spc="60">
                <a:solidFill>
                  <a:srgbClr val="131313"/>
                </a:solidFill>
              </a:rPr>
              <a:t> </a:t>
            </a:r>
            <a:r>
              <a:rPr dirty="0"/>
              <a:t>concrete</a:t>
            </a:r>
            <a:r>
              <a:rPr dirty="0" spc="140"/>
              <a:t> </a:t>
            </a:r>
            <a:r>
              <a:rPr dirty="0"/>
              <a:t>shape</a:t>
            </a:r>
            <a:r>
              <a:rPr dirty="0" spc="100"/>
              <a:t> </a:t>
            </a:r>
            <a:r>
              <a:rPr dirty="0"/>
              <a:t>classes</a:t>
            </a:r>
            <a:r>
              <a:rPr dirty="0" spc="95"/>
              <a:t> </a:t>
            </a:r>
            <a:r>
              <a:rPr dirty="0" b="1">
                <a:latin typeface="Arial"/>
                <a:cs typeface="Arial"/>
              </a:rPr>
              <a:t>to</a:t>
            </a:r>
            <a:r>
              <a:rPr dirty="0" spc="1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inherit</a:t>
            </a:r>
            <a:r>
              <a:rPr dirty="0" spc="175" b="1">
                <a:latin typeface="Arial"/>
                <a:cs typeface="Arial"/>
              </a:rPr>
              <a:t> </a:t>
            </a:r>
            <a:r>
              <a:rPr dirty="0" spc="55">
                <a:solidFill>
                  <a:srgbClr val="111111"/>
                </a:solidFill>
              </a:rPr>
              <a:t>common</a:t>
            </a:r>
            <a:r>
              <a:rPr dirty="0" spc="80">
                <a:solidFill>
                  <a:srgbClr val="111111"/>
                </a:solidFill>
              </a:rPr>
              <a:t> </a:t>
            </a:r>
            <a:r>
              <a:rPr dirty="0">
                <a:solidFill>
                  <a:srgbClr val="0C0C0C"/>
                </a:solidFill>
              </a:rPr>
              <a:t>behaviors</a:t>
            </a:r>
            <a:r>
              <a:rPr dirty="0" spc="160">
                <a:solidFill>
                  <a:srgbClr val="0C0C0C"/>
                </a:solidFill>
              </a:rPr>
              <a:t> </a:t>
            </a:r>
            <a:r>
              <a:rPr dirty="0" spc="55">
                <a:solidFill>
                  <a:srgbClr val="111111"/>
                </a:solidFill>
              </a:rPr>
              <a:t>from</a:t>
            </a:r>
            <a:r>
              <a:rPr dirty="0" spc="80">
                <a:solidFill>
                  <a:srgbClr val="111111"/>
                </a:solidFill>
              </a:rPr>
              <a:t> </a:t>
            </a:r>
            <a:r>
              <a:rPr dirty="0">
                <a:solidFill>
                  <a:srgbClr val="111111"/>
                </a:solidFill>
              </a:rPr>
              <a:t>the</a:t>
            </a:r>
            <a:r>
              <a:rPr dirty="0" spc="45">
                <a:solidFill>
                  <a:srgbClr val="111111"/>
                </a:solidFill>
              </a:rPr>
              <a:t> </a:t>
            </a:r>
            <a:r>
              <a:rPr dirty="0">
                <a:solidFill>
                  <a:srgbClr val="111111"/>
                </a:solidFill>
              </a:rPr>
              <a:t>abstract</a:t>
            </a:r>
            <a:r>
              <a:rPr dirty="0" spc="130">
                <a:solidFill>
                  <a:srgbClr val="111111"/>
                </a:solidFill>
              </a:rPr>
              <a:t> </a:t>
            </a:r>
            <a:r>
              <a:rPr dirty="0">
                <a:solidFill>
                  <a:srgbClr val="131313"/>
                </a:solidFill>
              </a:rPr>
              <a:t>Shape</a:t>
            </a:r>
            <a:r>
              <a:rPr dirty="0" spc="110">
                <a:solidFill>
                  <a:srgbClr val="131313"/>
                </a:solidFill>
              </a:rPr>
              <a:t> </a:t>
            </a:r>
            <a:r>
              <a:rPr dirty="0" spc="-10"/>
              <a:t>class.</a:t>
            </a:r>
          </a:p>
          <a:p>
            <a:pPr marL="189230" marR="137160" indent="-1270">
              <a:lnSpc>
                <a:spcPct val="112900"/>
              </a:lnSpc>
              <a:spcBef>
                <a:spcPts val="310"/>
              </a:spcBef>
            </a:pPr>
            <a:r>
              <a:rPr dirty="0" spc="-10">
                <a:solidFill>
                  <a:srgbClr val="0E0E0E"/>
                </a:solidFill>
              </a:rPr>
              <a:t>Shape</a:t>
            </a:r>
            <a:r>
              <a:rPr dirty="0" spc="-15">
                <a:solidFill>
                  <a:srgbClr val="0E0E0E"/>
                </a:solidFill>
              </a:rPr>
              <a:t> </a:t>
            </a:r>
            <a:r>
              <a:rPr dirty="0"/>
              <a:t>(abstract</a:t>
            </a:r>
            <a:r>
              <a:rPr dirty="0" spc="55"/>
              <a:t> </a:t>
            </a:r>
            <a:r>
              <a:rPr dirty="0">
                <a:solidFill>
                  <a:srgbClr val="0C0C0C"/>
                </a:solidFill>
              </a:rPr>
              <a:t>base</a:t>
            </a:r>
            <a:r>
              <a:rPr dirty="0" spc="-5">
                <a:solidFill>
                  <a:srgbClr val="0C0C0C"/>
                </a:solidFill>
              </a:rPr>
              <a:t> </a:t>
            </a:r>
            <a:r>
              <a:rPr dirty="0">
                <a:solidFill>
                  <a:srgbClr val="0C0C0C"/>
                </a:solidFill>
              </a:rPr>
              <a:t>class)</a:t>
            </a:r>
            <a:r>
              <a:rPr dirty="0" spc="35">
                <a:solidFill>
                  <a:srgbClr val="0C0C0C"/>
                </a:solidFill>
              </a:rPr>
              <a:t> </a:t>
            </a:r>
            <a:r>
              <a:rPr dirty="0"/>
              <a:t>defines</a:t>
            </a:r>
            <a:r>
              <a:rPr dirty="0" spc="40"/>
              <a:t> </a:t>
            </a:r>
            <a:r>
              <a:rPr dirty="0">
                <a:solidFill>
                  <a:srgbClr val="0E0E0E"/>
                </a:solidFill>
              </a:rPr>
              <a:t>common</a:t>
            </a:r>
            <a:r>
              <a:rPr dirty="0" spc="15">
                <a:solidFill>
                  <a:srgbClr val="0E0E0E"/>
                </a:solidFill>
              </a:rPr>
              <a:t> </a:t>
            </a:r>
            <a:r>
              <a:rPr dirty="0">
                <a:solidFill>
                  <a:srgbClr val="0E0E0E"/>
                </a:solidFill>
              </a:rPr>
              <a:t>behaviors</a:t>
            </a:r>
            <a:r>
              <a:rPr dirty="0" spc="25">
                <a:solidFill>
                  <a:srgbClr val="0E0E0E"/>
                </a:solidFill>
              </a:rPr>
              <a:t> </a:t>
            </a:r>
            <a:r>
              <a:rPr dirty="0" spc="-10">
                <a:solidFill>
                  <a:srgbClr val="0E0E0E"/>
                </a:solidFill>
              </a:rPr>
              <a:t>(draw,</a:t>
            </a:r>
            <a:r>
              <a:rPr dirty="0" spc="-5">
                <a:solidFill>
                  <a:srgbClr val="0E0E0E"/>
                </a:solidFill>
              </a:rPr>
              <a:t> </a:t>
            </a:r>
            <a:r>
              <a:rPr dirty="0">
                <a:solidFill>
                  <a:srgbClr val="0C0C0C"/>
                </a:solidFill>
              </a:rPr>
              <a:t>contains,</a:t>
            </a:r>
            <a:r>
              <a:rPr dirty="0" spc="-5">
                <a:solidFill>
                  <a:srgbClr val="0C0C0C"/>
                </a:solidFill>
              </a:rPr>
              <a:t> </a:t>
            </a:r>
            <a:r>
              <a:rPr dirty="0" spc="-20"/>
              <a:t>move).</a:t>
            </a:r>
            <a:r>
              <a:rPr dirty="0" spc="20"/>
              <a:t> </a:t>
            </a:r>
            <a:r>
              <a:rPr dirty="0"/>
              <a:t>Concrete</a:t>
            </a:r>
            <a:r>
              <a:rPr dirty="0" spc="35"/>
              <a:t> </a:t>
            </a:r>
            <a:r>
              <a:rPr dirty="0" spc="-10"/>
              <a:t>shape </a:t>
            </a:r>
            <a:r>
              <a:rPr dirty="0">
                <a:solidFill>
                  <a:srgbClr val="0C0C0C"/>
                </a:solidFill>
              </a:rPr>
              <a:t>classes</a:t>
            </a:r>
            <a:r>
              <a:rPr dirty="0" spc="45">
                <a:solidFill>
                  <a:srgbClr val="0C0C0C"/>
                </a:solidFill>
              </a:rPr>
              <a:t> </a:t>
            </a:r>
            <a:r>
              <a:rPr dirty="0" spc="-10"/>
              <a:t>(Circle,</a:t>
            </a:r>
            <a:r>
              <a:rPr dirty="0"/>
              <a:t> </a:t>
            </a:r>
            <a:r>
              <a:rPr dirty="0" spc="-20">
                <a:solidFill>
                  <a:srgbClr val="0C0C0C"/>
                </a:solidFill>
              </a:rPr>
              <a:t>Square, </a:t>
            </a:r>
            <a:r>
              <a:rPr dirty="0" spc="-10"/>
              <a:t>Line,</a:t>
            </a:r>
            <a:r>
              <a:rPr dirty="0" spc="-40"/>
              <a:t> </a:t>
            </a:r>
            <a:r>
              <a:rPr dirty="0" spc="-10">
                <a:solidFill>
                  <a:srgbClr val="0C0C0C"/>
                </a:solidFill>
              </a:rPr>
              <a:t>StylusPath)</a:t>
            </a:r>
            <a:r>
              <a:rPr dirty="0" spc="60">
                <a:solidFill>
                  <a:srgbClr val="0C0C0C"/>
                </a:solidFill>
              </a:rPr>
              <a:t> </a:t>
            </a:r>
            <a:r>
              <a:rPr dirty="0" spc="-10">
                <a:solidFill>
                  <a:srgbClr val="0C0C0C"/>
                </a:solidFill>
              </a:rPr>
              <a:t>inherit </a:t>
            </a:r>
            <a:r>
              <a:rPr dirty="0"/>
              <a:t>from</a:t>
            </a:r>
            <a:r>
              <a:rPr dirty="0" spc="30"/>
              <a:t> </a:t>
            </a:r>
            <a:r>
              <a:rPr dirty="0" spc="-10">
                <a:solidFill>
                  <a:srgbClr val="0C0C0C"/>
                </a:solidFill>
              </a:rPr>
              <a:t>Shape.</a:t>
            </a:r>
          </a:p>
          <a:p>
            <a:pPr marL="185420" indent="-149860">
              <a:lnSpc>
                <a:spcPct val="100000"/>
              </a:lnSpc>
              <a:spcBef>
                <a:spcPts val="755"/>
              </a:spcBef>
              <a:buClr>
                <a:srgbClr val="282D6B"/>
              </a:buClr>
              <a:buChar char="•"/>
              <a:tabLst>
                <a:tab pos="185420" algn="l"/>
              </a:tabLst>
            </a:pPr>
            <a:r>
              <a:rPr dirty="0" spc="20"/>
              <a:t>Polymorphism</a:t>
            </a:r>
            <a:r>
              <a:rPr dirty="0" spc="90"/>
              <a:t> </a:t>
            </a:r>
            <a:r>
              <a:rPr dirty="0" spc="20">
                <a:solidFill>
                  <a:srgbClr val="181818"/>
                </a:solidFill>
              </a:rPr>
              <a:t>enables</a:t>
            </a:r>
            <a:r>
              <a:rPr dirty="0" spc="65">
                <a:solidFill>
                  <a:srgbClr val="181818"/>
                </a:solidFill>
              </a:rPr>
              <a:t> </a:t>
            </a:r>
            <a:r>
              <a:rPr dirty="0" spc="20"/>
              <a:t>dynamic</a:t>
            </a:r>
            <a:r>
              <a:rPr dirty="0" spc="45"/>
              <a:t> </a:t>
            </a:r>
            <a:r>
              <a:rPr dirty="0" spc="50">
                <a:solidFill>
                  <a:srgbClr val="070826"/>
                </a:solidFill>
              </a:rPr>
              <a:t>method</a:t>
            </a:r>
            <a:r>
              <a:rPr dirty="0" spc="-20">
                <a:solidFill>
                  <a:srgbClr val="070826"/>
                </a:solidFill>
              </a:rPr>
              <a:t> </a:t>
            </a:r>
            <a:r>
              <a:rPr dirty="0" spc="20">
                <a:solidFill>
                  <a:srgbClr val="111111"/>
                </a:solidFill>
              </a:rPr>
              <a:t>execution</a:t>
            </a:r>
            <a:r>
              <a:rPr dirty="0" spc="-15">
                <a:solidFill>
                  <a:srgbClr val="111111"/>
                </a:solidFill>
              </a:rPr>
              <a:t> </a:t>
            </a:r>
            <a:r>
              <a:rPr dirty="0" spc="20">
                <a:solidFill>
                  <a:srgbClr val="111111"/>
                </a:solidFill>
              </a:rPr>
              <a:t>based</a:t>
            </a:r>
            <a:r>
              <a:rPr dirty="0" spc="30">
                <a:solidFill>
                  <a:srgbClr val="111111"/>
                </a:solidFill>
              </a:rPr>
              <a:t> </a:t>
            </a:r>
            <a:r>
              <a:rPr dirty="0" spc="20">
                <a:solidFill>
                  <a:srgbClr val="131313"/>
                </a:solidFill>
              </a:rPr>
              <a:t>on </a:t>
            </a:r>
            <a:r>
              <a:rPr dirty="0" spc="20">
                <a:solidFill>
                  <a:srgbClr val="111111"/>
                </a:solidFill>
              </a:rPr>
              <a:t>the</a:t>
            </a:r>
            <a:r>
              <a:rPr dirty="0" spc="15">
                <a:solidFill>
                  <a:srgbClr val="111111"/>
                </a:solidFill>
              </a:rPr>
              <a:t> </a:t>
            </a:r>
            <a:r>
              <a:rPr dirty="0" spc="20"/>
              <a:t>actual</a:t>
            </a:r>
            <a:r>
              <a:rPr dirty="0" spc="35"/>
              <a:t> </a:t>
            </a:r>
            <a:r>
              <a:rPr dirty="0" spc="20">
                <a:solidFill>
                  <a:srgbClr val="0C0C0C"/>
                </a:solidFill>
              </a:rPr>
              <a:t>shape</a:t>
            </a:r>
            <a:r>
              <a:rPr dirty="0" spc="-35">
                <a:solidFill>
                  <a:srgbClr val="0C0C0C"/>
                </a:solidFill>
              </a:rPr>
              <a:t> </a:t>
            </a:r>
            <a:r>
              <a:rPr dirty="0" spc="-10">
                <a:solidFill>
                  <a:srgbClr val="0E0E0E"/>
                </a:solidFill>
              </a:rPr>
              <a:t>type.</a:t>
            </a:r>
          </a:p>
          <a:p>
            <a:pPr marL="187960" marR="5080">
              <a:lnSpc>
                <a:spcPct val="112900"/>
              </a:lnSpc>
              <a:spcBef>
                <a:spcPts val="315"/>
              </a:spcBef>
            </a:pPr>
            <a:r>
              <a:rPr dirty="0" spc="-10">
                <a:solidFill>
                  <a:srgbClr val="0C0C0C"/>
                </a:solidFill>
              </a:rPr>
              <a:t>DrawingPanel</a:t>
            </a:r>
            <a:r>
              <a:rPr dirty="0" spc="45">
                <a:solidFill>
                  <a:srgbClr val="0C0C0C"/>
                </a:solidFill>
              </a:rPr>
              <a:t> </a:t>
            </a:r>
            <a:r>
              <a:rPr dirty="0">
                <a:solidFill>
                  <a:srgbClr val="0C0C0C"/>
                </a:solidFill>
              </a:rPr>
              <a:t>iterates</a:t>
            </a:r>
            <a:r>
              <a:rPr dirty="0" spc="50">
                <a:solidFill>
                  <a:srgbClr val="0C0C0C"/>
                </a:solidFill>
              </a:rPr>
              <a:t> </a:t>
            </a:r>
            <a:r>
              <a:rPr dirty="0">
                <a:solidFill>
                  <a:srgbClr val="0E0E0E"/>
                </a:solidFill>
              </a:rPr>
              <a:t>throug</a:t>
            </a:r>
            <a:r>
              <a:rPr dirty="0">
                <a:solidFill>
                  <a:srgbClr val="111111"/>
                </a:solidFill>
              </a:rPr>
              <a:t>h</a:t>
            </a:r>
            <a:r>
              <a:rPr dirty="0" spc="25">
                <a:solidFill>
                  <a:srgbClr val="111111"/>
                </a:solidFill>
              </a:rPr>
              <a:t> </a:t>
            </a:r>
            <a:r>
              <a:rPr dirty="0">
                <a:solidFill>
                  <a:srgbClr val="111111"/>
                </a:solidFill>
              </a:rPr>
              <a:t>a</a:t>
            </a:r>
            <a:r>
              <a:rPr dirty="0" spc="-15">
                <a:solidFill>
                  <a:srgbClr val="111111"/>
                </a:solidFill>
              </a:rPr>
              <a:t> </a:t>
            </a:r>
            <a:r>
              <a:rPr dirty="0"/>
              <a:t>List</a:t>
            </a:r>
            <a:r>
              <a:rPr dirty="0" spc="40"/>
              <a:t> </a:t>
            </a:r>
            <a:r>
              <a:rPr dirty="0"/>
              <a:t>and </a:t>
            </a:r>
            <a:r>
              <a:rPr dirty="0">
                <a:solidFill>
                  <a:srgbClr val="0C0C0C"/>
                </a:solidFill>
              </a:rPr>
              <a:t>calls</a:t>
            </a:r>
            <a:r>
              <a:rPr dirty="0" spc="45">
                <a:solidFill>
                  <a:srgbClr val="0C0C0C"/>
                </a:solidFill>
              </a:rPr>
              <a:t> </a:t>
            </a:r>
            <a:r>
              <a:rPr dirty="0" spc="-10">
                <a:solidFill>
                  <a:srgbClr val="0E0E0E"/>
                </a:solidFill>
              </a:rPr>
              <a:t>shape.draw(g2d).</a:t>
            </a:r>
            <a:r>
              <a:rPr dirty="0" spc="-50">
                <a:solidFill>
                  <a:srgbClr val="0E0E0E"/>
                </a:solidFill>
              </a:rPr>
              <a:t> </a:t>
            </a:r>
            <a:r>
              <a:rPr dirty="0">
                <a:solidFill>
                  <a:srgbClr val="0C0C0C"/>
                </a:solidFill>
              </a:rPr>
              <a:t>The</a:t>
            </a:r>
            <a:r>
              <a:rPr dirty="0" spc="10">
                <a:solidFill>
                  <a:srgbClr val="0C0C0C"/>
                </a:solidFill>
              </a:rPr>
              <a:t> </a:t>
            </a:r>
            <a:r>
              <a:rPr dirty="0">
                <a:solidFill>
                  <a:srgbClr val="0E0E0E"/>
                </a:solidFill>
              </a:rPr>
              <a:t>specific</a:t>
            </a:r>
            <a:r>
              <a:rPr dirty="0" spc="50">
                <a:solidFill>
                  <a:srgbClr val="0E0E0E"/>
                </a:solidFill>
              </a:rPr>
              <a:t> </a:t>
            </a:r>
            <a:r>
              <a:rPr dirty="0"/>
              <a:t>d</a:t>
            </a:r>
            <a:r>
              <a:rPr dirty="0">
                <a:solidFill>
                  <a:srgbClr val="0C0C0C"/>
                </a:solidFill>
              </a:rPr>
              <a:t>raw</a:t>
            </a:r>
            <a:r>
              <a:rPr dirty="0" spc="35">
                <a:solidFill>
                  <a:srgbClr val="0C0C0C"/>
                </a:solidFill>
              </a:rPr>
              <a:t> </a:t>
            </a:r>
            <a:r>
              <a:rPr dirty="0">
                <a:solidFill>
                  <a:srgbClr val="0A0A0A"/>
                </a:solidFill>
              </a:rPr>
              <a:t>method</a:t>
            </a:r>
            <a:r>
              <a:rPr dirty="0" spc="20">
                <a:solidFill>
                  <a:srgbClr val="0A0A0A"/>
                </a:solidFill>
              </a:rPr>
              <a:t> </a:t>
            </a:r>
            <a:r>
              <a:rPr dirty="0">
                <a:solidFill>
                  <a:srgbClr val="0C0C0C"/>
                </a:solidFill>
              </a:rPr>
              <a:t>executed</a:t>
            </a:r>
            <a:r>
              <a:rPr dirty="0" spc="50">
                <a:solidFill>
                  <a:srgbClr val="0C0C0C"/>
                </a:solidFill>
              </a:rPr>
              <a:t> </a:t>
            </a:r>
            <a:r>
              <a:rPr dirty="0">
                <a:solidFill>
                  <a:srgbClr val="080808"/>
                </a:solidFill>
              </a:rPr>
              <a:t>depends</a:t>
            </a:r>
            <a:r>
              <a:rPr dirty="0" spc="80">
                <a:solidFill>
                  <a:srgbClr val="080808"/>
                </a:solidFill>
              </a:rPr>
              <a:t> </a:t>
            </a:r>
            <a:r>
              <a:rPr dirty="0">
                <a:solidFill>
                  <a:srgbClr val="111111"/>
                </a:solidFill>
              </a:rPr>
              <a:t>on</a:t>
            </a:r>
            <a:r>
              <a:rPr dirty="0" spc="-5">
                <a:solidFill>
                  <a:srgbClr val="111111"/>
                </a:solidFill>
              </a:rPr>
              <a:t> </a:t>
            </a:r>
            <a:r>
              <a:rPr dirty="0">
                <a:solidFill>
                  <a:srgbClr val="0C0C0C"/>
                </a:solidFill>
              </a:rPr>
              <a:t>the</a:t>
            </a:r>
            <a:r>
              <a:rPr dirty="0" spc="25">
                <a:solidFill>
                  <a:srgbClr val="0C0C0C"/>
                </a:solidFill>
              </a:rPr>
              <a:t> </a:t>
            </a:r>
            <a:r>
              <a:rPr dirty="0">
                <a:solidFill>
                  <a:srgbClr val="0E0E0E"/>
                </a:solidFill>
              </a:rPr>
              <a:t>actual</a:t>
            </a:r>
            <a:r>
              <a:rPr dirty="0" spc="5">
                <a:solidFill>
                  <a:srgbClr val="0E0E0E"/>
                </a:solidFill>
              </a:rPr>
              <a:t> </a:t>
            </a:r>
            <a:r>
              <a:rPr dirty="0">
                <a:solidFill>
                  <a:srgbClr val="0E0E0E"/>
                </a:solidFill>
              </a:rPr>
              <a:t>type</a:t>
            </a:r>
            <a:r>
              <a:rPr dirty="0" spc="15">
                <a:solidFill>
                  <a:srgbClr val="0E0E0E"/>
                </a:solidFill>
              </a:rPr>
              <a:t> </a:t>
            </a:r>
            <a:r>
              <a:rPr dirty="0">
                <a:solidFill>
                  <a:srgbClr val="0C0C0C"/>
                </a:solidFill>
              </a:rPr>
              <a:t>of</a:t>
            </a:r>
            <a:r>
              <a:rPr dirty="0" spc="65">
                <a:solidFill>
                  <a:srgbClr val="0C0C0C"/>
                </a:solidFill>
              </a:rPr>
              <a:t> </a:t>
            </a:r>
            <a:r>
              <a:rPr dirty="0">
                <a:solidFill>
                  <a:srgbClr val="0C0C0C"/>
                </a:solidFill>
              </a:rPr>
              <a:t>the</a:t>
            </a:r>
            <a:r>
              <a:rPr dirty="0" spc="10">
                <a:solidFill>
                  <a:srgbClr val="0C0C0C"/>
                </a:solidFill>
              </a:rPr>
              <a:t> </a:t>
            </a:r>
            <a:r>
              <a:rPr dirty="0" spc="-10">
                <a:solidFill>
                  <a:srgbClr val="0C0C0C"/>
                </a:solidFill>
              </a:rPr>
              <a:t>shape</a:t>
            </a:r>
            <a:r>
              <a:rPr dirty="0" spc="50">
                <a:solidFill>
                  <a:srgbClr val="0C0C0C"/>
                </a:solidFill>
              </a:rPr>
              <a:t> </a:t>
            </a:r>
            <a:r>
              <a:rPr dirty="0" spc="-10">
                <a:solidFill>
                  <a:srgbClr val="0E0E0E"/>
                </a:solidFill>
              </a:rPr>
              <a:t>(e.g., Circle.draw</a:t>
            </a:r>
            <a:r>
              <a:rPr dirty="0" spc="90">
                <a:solidFill>
                  <a:srgbClr val="0E0E0E"/>
                </a:solidFill>
              </a:rPr>
              <a:t> </a:t>
            </a:r>
            <a:r>
              <a:rPr dirty="0">
                <a:solidFill>
                  <a:srgbClr val="0E0E0E"/>
                </a:solidFill>
              </a:rPr>
              <a:t>for</a:t>
            </a:r>
            <a:r>
              <a:rPr dirty="0" spc="35">
                <a:solidFill>
                  <a:srgbClr val="0E0E0E"/>
                </a:solidFill>
              </a:rPr>
              <a:t> </a:t>
            </a:r>
            <a:r>
              <a:rPr dirty="0">
                <a:solidFill>
                  <a:srgbClr val="0E0E0E"/>
                </a:solidFill>
              </a:rPr>
              <a:t>a</a:t>
            </a:r>
            <a:r>
              <a:rPr dirty="0" spc="-25">
                <a:solidFill>
                  <a:srgbClr val="0E0E0E"/>
                </a:solidFill>
              </a:rPr>
              <a:t> </a:t>
            </a:r>
            <a:r>
              <a:rPr dirty="0" spc="-10">
                <a:solidFill>
                  <a:srgbClr val="0C0C0C"/>
                </a:solidFill>
              </a:rPr>
              <a:t>Circle).</a:t>
            </a:r>
          </a:p>
          <a:p>
            <a:pPr marL="184785">
              <a:lnSpc>
                <a:spcPct val="100000"/>
              </a:lnSpc>
              <a:spcBef>
                <a:spcPts val="780"/>
              </a:spcBef>
            </a:pPr>
            <a:r>
              <a:rPr dirty="0" spc="30"/>
              <a:t>Encapsulation</a:t>
            </a:r>
            <a:r>
              <a:rPr dirty="0" spc="40"/>
              <a:t> </a:t>
            </a:r>
            <a:r>
              <a:rPr dirty="0" spc="30"/>
              <a:t>controls</a:t>
            </a:r>
            <a:r>
              <a:rPr dirty="0" spc="-25"/>
              <a:t> </a:t>
            </a:r>
            <a:r>
              <a:rPr dirty="0" spc="30"/>
              <a:t>access</a:t>
            </a:r>
            <a:r>
              <a:rPr dirty="0" spc="-10"/>
              <a:t> </a:t>
            </a:r>
            <a:r>
              <a:rPr dirty="0" spc="30">
                <a:solidFill>
                  <a:srgbClr val="0C0C0C"/>
                </a:solidFill>
              </a:rPr>
              <a:t>to </a:t>
            </a:r>
            <a:r>
              <a:rPr dirty="0" spc="30">
                <a:solidFill>
                  <a:srgbClr val="0E0E0E"/>
                </a:solidFill>
              </a:rPr>
              <a:t>Shape</a:t>
            </a:r>
            <a:r>
              <a:rPr dirty="0" spc="-35">
                <a:solidFill>
                  <a:srgbClr val="0E0E0E"/>
                </a:solidFill>
              </a:rPr>
              <a:t> </a:t>
            </a:r>
            <a:r>
              <a:rPr dirty="0" spc="30">
                <a:solidFill>
                  <a:srgbClr val="0C0C0C"/>
                </a:solidFill>
              </a:rPr>
              <a:t>properties</a:t>
            </a:r>
            <a:r>
              <a:rPr dirty="0" spc="25">
                <a:solidFill>
                  <a:srgbClr val="0C0C0C"/>
                </a:solidFill>
              </a:rPr>
              <a:t> </a:t>
            </a:r>
            <a:r>
              <a:rPr dirty="0" spc="30">
                <a:solidFill>
                  <a:srgbClr val="111111"/>
                </a:solidFill>
              </a:rPr>
              <a:t>through</a:t>
            </a:r>
            <a:r>
              <a:rPr dirty="0" spc="-25">
                <a:solidFill>
                  <a:srgbClr val="111111"/>
                </a:solidFill>
              </a:rPr>
              <a:t> </a:t>
            </a:r>
            <a:r>
              <a:rPr dirty="0" spc="30"/>
              <a:t>public</a:t>
            </a:r>
            <a:r>
              <a:rPr dirty="0" spc="25"/>
              <a:t> </a:t>
            </a:r>
            <a:r>
              <a:rPr dirty="0" spc="30">
                <a:solidFill>
                  <a:srgbClr val="0E0E0E"/>
                </a:solidFill>
              </a:rPr>
              <a:t>getters</a:t>
            </a:r>
            <a:r>
              <a:rPr dirty="0">
                <a:solidFill>
                  <a:srgbClr val="0E0E0E"/>
                </a:solidFill>
              </a:rPr>
              <a:t> </a:t>
            </a:r>
            <a:r>
              <a:rPr dirty="0" spc="20">
                <a:solidFill>
                  <a:srgbClr val="111111"/>
                </a:solidFill>
              </a:rPr>
              <a:t>and</a:t>
            </a:r>
            <a:r>
              <a:rPr dirty="0" spc="-35">
                <a:solidFill>
                  <a:srgbClr val="111111"/>
                </a:solidFill>
              </a:rPr>
              <a:t> </a:t>
            </a:r>
            <a:r>
              <a:rPr dirty="0" spc="-10"/>
              <a:t>setters.</a:t>
            </a:r>
          </a:p>
          <a:p>
            <a:pPr marL="188595">
              <a:lnSpc>
                <a:spcPct val="100000"/>
              </a:lnSpc>
              <a:spcBef>
                <a:spcPts val="440"/>
              </a:spcBef>
            </a:pPr>
            <a:r>
              <a:rPr dirty="0" spc="-10"/>
              <a:t>Shape</a:t>
            </a:r>
            <a:r>
              <a:rPr dirty="0" spc="10"/>
              <a:t> </a:t>
            </a:r>
            <a:r>
              <a:rPr dirty="0"/>
              <a:t>properties</a:t>
            </a:r>
            <a:r>
              <a:rPr dirty="0" spc="75"/>
              <a:t> </a:t>
            </a:r>
            <a:r>
              <a:rPr dirty="0" spc="-30">
                <a:solidFill>
                  <a:srgbClr val="0C0C0C"/>
                </a:solidFill>
              </a:rPr>
              <a:t>(e.g.,</a:t>
            </a:r>
            <a:r>
              <a:rPr dirty="0" spc="40">
                <a:solidFill>
                  <a:srgbClr val="0C0C0C"/>
                </a:solidFill>
              </a:rPr>
              <a:t> </a:t>
            </a:r>
            <a:r>
              <a:rPr dirty="0"/>
              <a:t>x,</a:t>
            </a:r>
            <a:r>
              <a:rPr dirty="0" spc="5"/>
              <a:t> </a:t>
            </a:r>
            <a:r>
              <a:rPr dirty="0" spc="-60"/>
              <a:t>y,</a:t>
            </a:r>
            <a:r>
              <a:rPr dirty="0" spc="-35"/>
              <a:t> </a:t>
            </a:r>
            <a:r>
              <a:rPr dirty="0">
                <a:solidFill>
                  <a:srgbClr val="0E0E0E"/>
                </a:solidFill>
              </a:rPr>
              <a:t>color)</a:t>
            </a:r>
            <a:r>
              <a:rPr dirty="0" spc="65">
                <a:solidFill>
                  <a:srgbClr val="0E0E0E"/>
                </a:solidFill>
              </a:rPr>
              <a:t> </a:t>
            </a:r>
            <a:r>
              <a:rPr dirty="0"/>
              <a:t>are</a:t>
            </a:r>
            <a:r>
              <a:rPr dirty="0" spc="30"/>
              <a:t> </a:t>
            </a:r>
            <a:r>
              <a:rPr dirty="0"/>
              <a:t>protected.</a:t>
            </a:r>
            <a:r>
              <a:rPr dirty="0" spc="60"/>
              <a:t> </a:t>
            </a:r>
            <a:r>
              <a:rPr dirty="0">
                <a:solidFill>
                  <a:srgbClr val="0E0E0E"/>
                </a:solidFill>
              </a:rPr>
              <a:t>Access</a:t>
            </a:r>
            <a:r>
              <a:rPr dirty="0" spc="65">
                <a:solidFill>
                  <a:srgbClr val="0E0E0E"/>
                </a:solidFill>
              </a:rPr>
              <a:t> </a:t>
            </a:r>
            <a:r>
              <a:rPr dirty="0"/>
              <a:t>is</a:t>
            </a:r>
            <a:r>
              <a:rPr dirty="0" spc="10"/>
              <a:t> </a:t>
            </a:r>
            <a:r>
              <a:rPr dirty="0"/>
              <a:t>controlled</a:t>
            </a:r>
            <a:r>
              <a:rPr dirty="0" spc="45"/>
              <a:t> </a:t>
            </a:r>
            <a:r>
              <a:rPr dirty="0"/>
              <a:t>via</a:t>
            </a:r>
            <a:r>
              <a:rPr dirty="0" spc="-25"/>
              <a:t> </a:t>
            </a:r>
            <a:r>
              <a:rPr dirty="0">
                <a:solidFill>
                  <a:srgbClr val="0C0C0C"/>
                </a:solidFill>
              </a:rPr>
              <a:t>public</a:t>
            </a:r>
            <a:r>
              <a:rPr dirty="0" spc="65">
                <a:solidFill>
                  <a:srgbClr val="0C0C0C"/>
                </a:solidFill>
              </a:rPr>
              <a:t> </a:t>
            </a:r>
            <a:r>
              <a:rPr dirty="0">
                <a:solidFill>
                  <a:srgbClr val="0E0E0E"/>
                </a:solidFill>
              </a:rPr>
              <a:t>getters</a:t>
            </a:r>
            <a:r>
              <a:rPr dirty="0" spc="30">
                <a:solidFill>
                  <a:srgbClr val="0E0E0E"/>
                </a:solidFill>
              </a:rPr>
              <a:t> </a:t>
            </a:r>
            <a:r>
              <a:rPr dirty="0">
                <a:solidFill>
                  <a:srgbClr val="0E0E0E"/>
                </a:solidFill>
              </a:rPr>
              <a:t>and</a:t>
            </a:r>
            <a:r>
              <a:rPr dirty="0" spc="20">
                <a:solidFill>
                  <a:srgbClr val="0E0E0E"/>
                </a:solidFill>
              </a:rPr>
              <a:t> </a:t>
            </a:r>
            <a:r>
              <a:rPr dirty="0" spc="-10">
                <a:solidFill>
                  <a:srgbClr val="0C0C0C"/>
                </a:solidFill>
              </a:rPr>
              <a:t>setters.</a:t>
            </a:r>
          </a:p>
          <a:p>
            <a:pPr marL="191135" indent="-155575">
              <a:lnSpc>
                <a:spcPct val="100000"/>
              </a:lnSpc>
              <a:spcBef>
                <a:spcPts val="780"/>
              </a:spcBef>
              <a:buClr>
                <a:srgbClr val="262D6B"/>
              </a:buClr>
              <a:buChar char="•"/>
              <a:tabLst>
                <a:tab pos="191135" algn="l"/>
              </a:tabLst>
            </a:pPr>
            <a:r>
              <a:rPr dirty="0"/>
              <a:t>Abstraction</a:t>
            </a:r>
            <a:r>
              <a:rPr dirty="0" spc="235"/>
              <a:t> </a:t>
            </a:r>
            <a:r>
              <a:rPr dirty="0"/>
              <a:t>defines</a:t>
            </a:r>
            <a:r>
              <a:rPr dirty="0" spc="204"/>
              <a:t> </a:t>
            </a:r>
            <a:r>
              <a:rPr dirty="0">
                <a:solidFill>
                  <a:srgbClr val="111111"/>
                </a:solidFill>
              </a:rPr>
              <a:t>a</a:t>
            </a:r>
            <a:r>
              <a:rPr dirty="0" spc="30">
                <a:solidFill>
                  <a:srgbClr val="111111"/>
                </a:solidFill>
              </a:rPr>
              <a:t> </a:t>
            </a:r>
            <a:r>
              <a:rPr dirty="0" spc="55"/>
              <a:t>common</a:t>
            </a:r>
            <a:r>
              <a:rPr dirty="0" spc="130"/>
              <a:t> </a:t>
            </a:r>
            <a:r>
              <a:rPr dirty="0"/>
              <a:t>interface</a:t>
            </a:r>
            <a:r>
              <a:rPr dirty="0" spc="185"/>
              <a:t> </a:t>
            </a:r>
            <a:r>
              <a:rPr dirty="0">
                <a:solidFill>
                  <a:srgbClr val="080A2A"/>
                </a:solidFill>
              </a:rPr>
              <a:t>while</a:t>
            </a:r>
            <a:r>
              <a:rPr dirty="0" spc="30">
                <a:solidFill>
                  <a:srgbClr val="080A2A"/>
                </a:solidFill>
              </a:rPr>
              <a:t> </a:t>
            </a:r>
            <a:r>
              <a:rPr dirty="0"/>
              <a:t>hiding</a:t>
            </a:r>
            <a:r>
              <a:rPr dirty="0" spc="85"/>
              <a:t> </a:t>
            </a:r>
            <a:r>
              <a:rPr dirty="0" spc="35">
                <a:solidFill>
                  <a:srgbClr val="111111"/>
                </a:solidFill>
              </a:rPr>
              <a:t>implementation</a:t>
            </a:r>
            <a:r>
              <a:rPr dirty="0" spc="-35">
                <a:solidFill>
                  <a:srgbClr val="111111"/>
                </a:solidFill>
              </a:rPr>
              <a:t> </a:t>
            </a:r>
            <a:r>
              <a:rPr dirty="0" spc="-10"/>
              <a:t>details.</a:t>
            </a:r>
          </a:p>
          <a:p>
            <a:pPr marL="187960">
              <a:lnSpc>
                <a:spcPct val="100000"/>
              </a:lnSpc>
              <a:spcBef>
                <a:spcPts val="495"/>
              </a:spcBef>
            </a:pPr>
            <a:r>
              <a:rPr dirty="0">
                <a:solidFill>
                  <a:srgbClr val="0A0A0A"/>
                </a:solidFill>
              </a:rPr>
              <a:t>The</a:t>
            </a:r>
            <a:r>
              <a:rPr dirty="0" spc="-10">
                <a:solidFill>
                  <a:srgbClr val="0A0A0A"/>
                </a:solidFill>
              </a:rPr>
              <a:t> </a:t>
            </a:r>
            <a:r>
              <a:rPr dirty="0" spc="-10">
                <a:solidFill>
                  <a:srgbClr val="0C0C0C"/>
                </a:solidFill>
              </a:rPr>
              <a:t>Shape</a:t>
            </a:r>
            <a:r>
              <a:rPr dirty="0" spc="5">
                <a:solidFill>
                  <a:srgbClr val="0C0C0C"/>
                </a:solidFill>
              </a:rPr>
              <a:t> </a:t>
            </a:r>
            <a:r>
              <a:rPr dirty="0">
                <a:solidFill>
                  <a:srgbClr val="0E0E0E"/>
                </a:solidFill>
              </a:rPr>
              <a:t>class</a:t>
            </a:r>
            <a:r>
              <a:rPr dirty="0" spc="45">
                <a:solidFill>
                  <a:srgbClr val="0E0E0E"/>
                </a:solidFill>
              </a:rPr>
              <a:t> </a:t>
            </a:r>
            <a:r>
              <a:rPr dirty="0">
                <a:solidFill>
                  <a:srgbClr val="0C0C0C"/>
                </a:solidFill>
              </a:rPr>
              <a:t>abstracts</a:t>
            </a:r>
            <a:r>
              <a:rPr dirty="0" spc="85">
                <a:solidFill>
                  <a:srgbClr val="0C0C0C"/>
                </a:solidFill>
              </a:rPr>
              <a:t> </a:t>
            </a:r>
            <a:r>
              <a:rPr dirty="0">
                <a:solidFill>
                  <a:srgbClr val="0A0A0A"/>
                </a:solidFill>
              </a:rPr>
              <a:t>the</a:t>
            </a:r>
            <a:r>
              <a:rPr dirty="0" spc="-15">
                <a:solidFill>
                  <a:srgbClr val="0A0A0A"/>
                </a:solidFill>
              </a:rPr>
              <a:t> </a:t>
            </a:r>
            <a:r>
              <a:rPr dirty="0">
                <a:solidFill>
                  <a:srgbClr val="0C0C0C"/>
                </a:solidFill>
              </a:rPr>
              <a:t>common</a:t>
            </a:r>
            <a:r>
              <a:rPr dirty="0" spc="50">
                <a:solidFill>
                  <a:srgbClr val="0C0C0C"/>
                </a:solidFill>
              </a:rPr>
              <a:t> </a:t>
            </a:r>
            <a:r>
              <a:rPr dirty="0">
                <a:solidFill>
                  <a:srgbClr val="0C0C0C"/>
                </a:solidFill>
              </a:rPr>
              <a:t>interface</a:t>
            </a:r>
            <a:r>
              <a:rPr dirty="0" spc="55">
                <a:solidFill>
                  <a:srgbClr val="0C0C0C"/>
                </a:solidFill>
              </a:rPr>
              <a:t> </a:t>
            </a:r>
            <a:r>
              <a:rPr dirty="0">
                <a:solidFill>
                  <a:srgbClr val="0E0E0E"/>
                </a:solidFill>
              </a:rPr>
              <a:t>for</a:t>
            </a:r>
            <a:r>
              <a:rPr dirty="0" spc="30">
                <a:solidFill>
                  <a:srgbClr val="0E0E0E"/>
                </a:solidFill>
              </a:rPr>
              <a:t> </a:t>
            </a:r>
            <a:r>
              <a:rPr dirty="0"/>
              <a:t>all</a:t>
            </a:r>
            <a:r>
              <a:rPr dirty="0" spc="10"/>
              <a:t> </a:t>
            </a:r>
            <a:r>
              <a:rPr dirty="0">
                <a:solidFill>
                  <a:srgbClr val="0E0E0E"/>
                </a:solidFill>
              </a:rPr>
              <a:t>drawable</a:t>
            </a:r>
            <a:r>
              <a:rPr dirty="0" spc="70">
                <a:solidFill>
                  <a:srgbClr val="0E0E0E"/>
                </a:solidFill>
              </a:rPr>
              <a:t> </a:t>
            </a:r>
            <a:r>
              <a:rPr dirty="0"/>
              <a:t>objects,</a:t>
            </a:r>
            <a:r>
              <a:rPr dirty="0" spc="-20"/>
              <a:t> </a:t>
            </a:r>
            <a:r>
              <a:rPr dirty="0">
                <a:solidFill>
                  <a:srgbClr val="0C0C0C"/>
                </a:solidFill>
              </a:rPr>
              <a:t>hiding</a:t>
            </a:r>
            <a:r>
              <a:rPr dirty="0" spc="40">
                <a:solidFill>
                  <a:srgbClr val="0C0C0C"/>
                </a:solidFill>
              </a:rPr>
              <a:t> </a:t>
            </a:r>
            <a:r>
              <a:rPr dirty="0">
                <a:solidFill>
                  <a:srgbClr val="0C0C0C"/>
                </a:solidFill>
              </a:rPr>
              <a:t>implementation</a:t>
            </a:r>
            <a:r>
              <a:rPr dirty="0" spc="-10">
                <a:solidFill>
                  <a:srgbClr val="0C0C0C"/>
                </a:solidFill>
              </a:rPr>
              <a:t> </a:t>
            </a:r>
            <a:r>
              <a:rPr dirty="0">
                <a:solidFill>
                  <a:srgbClr val="0C0C0C"/>
                </a:solidFill>
              </a:rPr>
              <a:t>details</a:t>
            </a:r>
            <a:r>
              <a:rPr dirty="0" spc="45">
                <a:solidFill>
                  <a:srgbClr val="0C0C0C"/>
                </a:solidFill>
              </a:rPr>
              <a:t> </a:t>
            </a:r>
            <a:r>
              <a:rPr dirty="0">
                <a:solidFill>
                  <a:srgbClr val="0E0E0E"/>
                </a:solidFill>
              </a:rPr>
              <a:t>from</a:t>
            </a:r>
            <a:r>
              <a:rPr dirty="0" spc="-5">
                <a:solidFill>
                  <a:srgbClr val="0E0E0E"/>
                </a:solidFill>
              </a:rPr>
              <a:t> </a:t>
            </a:r>
            <a:r>
              <a:rPr dirty="0">
                <a:solidFill>
                  <a:srgbClr val="0A0A0A"/>
                </a:solidFill>
              </a:rPr>
              <a:t>the</a:t>
            </a:r>
            <a:r>
              <a:rPr dirty="0" spc="5">
                <a:solidFill>
                  <a:srgbClr val="0A0A0A"/>
                </a:solidFill>
              </a:rPr>
              <a:t> </a:t>
            </a:r>
            <a:r>
              <a:rPr dirty="0" spc="-10">
                <a:solidFill>
                  <a:srgbClr val="0C0C0C"/>
                </a:solidFill>
              </a:rPr>
              <a:t>DrawingPanel.</a:t>
            </a:r>
          </a:p>
          <a:p>
            <a:pPr marL="185420" indent="-149860">
              <a:lnSpc>
                <a:spcPct val="100000"/>
              </a:lnSpc>
              <a:spcBef>
                <a:spcPts val="780"/>
              </a:spcBef>
              <a:buClr>
                <a:srgbClr val="2D316E"/>
              </a:buClr>
              <a:buChar char="•"/>
              <a:tabLst>
                <a:tab pos="185420" algn="l"/>
              </a:tabLst>
            </a:pPr>
            <a:r>
              <a:rPr dirty="0"/>
              <a:t>Separation</a:t>
            </a:r>
            <a:r>
              <a:rPr dirty="0" spc="254"/>
              <a:t> </a:t>
            </a:r>
            <a:r>
              <a:rPr dirty="0">
                <a:solidFill>
                  <a:srgbClr val="111111"/>
                </a:solidFill>
              </a:rPr>
              <a:t>of</a:t>
            </a:r>
            <a:r>
              <a:rPr dirty="0" spc="305">
                <a:solidFill>
                  <a:srgbClr val="111111"/>
                </a:solidFill>
              </a:rPr>
              <a:t> </a:t>
            </a:r>
            <a:r>
              <a:rPr dirty="0">
                <a:solidFill>
                  <a:srgbClr val="0E0E0E"/>
                </a:solidFill>
              </a:rPr>
              <a:t>concerns</a:t>
            </a:r>
            <a:r>
              <a:rPr dirty="0" spc="245">
                <a:solidFill>
                  <a:srgbClr val="0E0E0E"/>
                </a:solidFill>
              </a:rPr>
              <a:t> </a:t>
            </a:r>
            <a:r>
              <a:rPr dirty="0"/>
              <a:t>improves</a:t>
            </a:r>
            <a:r>
              <a:rPr dirty="0" spc="270"/>
              <a:t> </a:t>
            </a:r>
            <a:r>
              <a:rPr dirty="0">
                <a:solidFill>
                  <a:srgbClr val="111111"/>
                </a:solidFill>
              </a:rPr>
              <a:t>code</a:t>
            </a:r>
            <a:r>
              <a:rPr dirty="0" spc="100">
                <a:solidFill>
                  <a:srgbClr val="111111"/>
                </a:solidFill>
              </a:rPr>
              <a:t> </a:t>
            </a:r>
            <a:r>
              <a:rPr dirty="0">
                <a:solidFill>
                  <a:srgbClr val="0E0E0E"/>
                </a:solidFill>
              </a:rPr>
              <a:t>management</a:t>
            </a:r>
            <a:r>
              <a:rPr dirty="0" spc="390">
                <a:solidFill>
                  <a:srgbClr val="0E0E0E"/>
                </a:solidFill>
              </a:rPr>
              <a:t> </a:t>
            </a:r>
            <a:r>
              <a:rPr dirty="0">
                <a:solidFill>
                  <a:srgbClr val="131313"/>
                </a:solidFill>
              </a:rPr>
              <a:t>by</a:t>
            </a:r>
            <a:r>
              <a:rPr dirty="0" spc="165">
                <a:solidFill>
                  <a:srgbClr val="131313"/>
                </a:solidFill>
              </a:rPr>
              <a:t> </a:t>
            </a:r>
            <a:r>
              <a:rPr dirty="0">
                <a:solidFill>
                  <a:srgbClr val="0A0A2A"/>
                </a:solidFill>
              </a:rPr>
              <a:t>dividing</a:t>
            </a:r>
            <a:r>
              <a:rPr dirty="0" spc="204">
                <a:solidFill>
                  <a:srgbClr val="0A0A2A"/>
                </a:solidFill>
              </a:rPr>
              <a:t> </a:t>
            </a:r>
            <a:r>
              <a:rPr dirty="0"/>
              <a:t>responsibilities</a:t>
            </a:r>
            <a:r>
              <a:rPr dirty="0" spc="35"/>
              <a:t> </a:t>
            </a:r>
            <a:r>
              <a:rPr dirty="0">
                <a:solidFill>
                  <a:srgbClr val="131313"/>
                </a:solidFill>
              </a:rPr>
              <a:t>between</a:t>
            </a:r>
            <a:r>
              <a:rPr dirty="0" spc="185">
                <a:solidFill>
                  <a:srgbClr val="131313"/>
                </a:solidFill>
              </a:rPr>
              <a:t> </a:t>
            </a:r>
            <a:r>
              <a:rPr dirty="0" spc="-10">
                <a:solidFill>
                  <a:srgbClr val="0E0E0E"/>
                </a:solidFill>
              </a:rPr>
              <a:t>components.</a:t>
            </a:r>
          </a:p>
          <a:p>
            <a:pPr marL="187960">
              <a:lnSpc>
                <a:spcPct val="100000"/>
              </a:lnSpc>
              <a:spcBef>
                <a:spcPts val="445"/>
              </a:spcBef>
            </a:pPr>
            <a:r>
              <a:rPr dirty="0" spc="-10">
                <a:solidFill>
                  <a:srgbClr val="0E0E0E"/>
                </a:solidFill>
              </a:rPr>
              <a:t>DrawingPanel</a:t>
            </a:r>
            <a:r>
              <a:rPr dirty="0" spc="5">
                <a:solidFill>
                  <a:srgbClr val="0E0E0E"/>
                </a:solidFill>
              </a:rPr>
              <a:t> </a:t>
            </a:r>
            <a:r>
              <a:rPr dirty="0" spc="-10">
                <a:solidFill>
                  <a:srgbClr val="0C0C0C"/>
                </a:solidFill>
              </a:rPr>
              <a:t>manages</a:t>
            </a:r>
            <a:r>
              <a:rPr dirty="0" spc="30">
                <a:solidFill>
                  <a:srgbClr val="0C0C0C"/>
                </a:solidFill>
              </a:rPr>
              <a:t> </a:t>
            </a:r>
            <a:r>
              <a:rPr dirty="0">
                <a:solidFill>
                  <a:srgbClr val="111111"/>
                </a:solidFill>
              </a:rPr>
              <a:t>the </a:t>
            </a:r>
            <a:r>
              <a:rPr dirty="0">
                <a:solidFill>
                  <a:srgbClr val="0C0C0C"/>
                </a:solidFill>
              </a:rPr>
              <a:t>d</a:t>
            </a:r>
            <a:r>
              <a:rPr dirty="0"/>
              <a:t>rawing</a:t>
            </a:r>
            <a:r>
              <a:rPr dirty="0" spc="-5"/>
              <a:t> </a:t>
            </a:r>
            <a:r>
              <a:rPr dirty="0"/>
              <a:t>logic</a:t>
            </a:r>
            <a:r>
              <a:rPr dirty="0" spc="15"/>
              <a:t> </a:t>
            </a:r>
            <a:r>
              <a:rPr dirty="0"/>
              <a:t>and</a:t>
            </a:r>
            <a:r>
              <a:rPr dirty="0" spc="-20"/>
              <a:t> display.</a:t>
            </a:r>
            <a:r>
              <a:rPr dirty="0" spc="-5"/>
              <a:t> </a:t>
            </a:r>
            <a:r>
              <a:rPr dirty="0" spc="-45"/>
              <a:t>hw1</a:t>
            </a:r>
            <a:r>
              <a:rPr dirty="0" spc="-15"/>
              <a:t> </a:t>
            </a:r>
            <a:r>
              <a:rPr dirty="0" spc="-10"/>
              <a:t>(main</a:t>
            </a:r>
            <a:r>
              <a:rPr dirty="0" spc="-5"/>
              <a:t> </a:t>
            </a:r>
            <a:r>
              <a:rPr dirty="0" spc="-10"/>
              <a:t>frame)</a:t>
            </a:r>
            <a:r>
              <a:rPr dirty="0" spc="55"/>
              <a:t> </a:t>
            </a:r>
            <a:r>
              <a:rPr dirty="0">
                <a:solidFill>
                  <a:srgbClr val="0C0C0C"/>
                </a:solidFill>
              </a:rPr>
              <a:t>hand</a:t>
            </a:r>
            <a:r>
              <a:rPr dirty="0">
                <a:solidFill>
                  <a:srgbClr val="0E0E0E"/>
                </a:solidFill>
              </a:rPr>
              <a:t>les </a:t>
            </a:r>
            <a:r>
              <a:rPr dirty="0" spc="-10"/>
              <a:t>UI elements,</a:t>
            </a:r>
            <a:r>
              <a:rPr dirty="0" spc="-20"/>
              <a:t> </a:t>
            </a:r>
            <a:r>
              <a:rPr dirty="0"/>
              <a:t>event</a:t>
            </a:r>
            <a:r>
              <a:rPr dirty="0" spc="5"/>
              <a:t> </a:t>
            </a:r>
            <a:r>
              <a:rPr dirty="0"/>
              <a:t>listeners,</a:t>
            </a:r>
            <a:r>
              <a:rPr dirty="0" spc="-15"/>
              <a:t> </a:t>
            </a:r>
            <a:r>
              <a:rPr dirty="0"/>
              <a:t>and</a:t>
            </a:r>
            <a:r>
              <a:rPr dirty="0" spc="-20"/>
              <a:t> </a:t>
            </a:r>
            <a:r>
              <a:rPr dirty="0" spc="-10"/>
              <a:t>overall</a:t>
            </a:r>
            <a:r>
              <a:rPr dirty="0" spc="35"/>
              <a:t> </a:t>
            </a:r>
            <a:r>
              <a:rPr dirty="0">
                <a:solidFill>
                  <a:srgbClr val="0E0E0E"/>
                </a:solidFill>
              </a:rPr>
              <a:t>application</a:t>
            </a:r>
            <a:r>
              <a:rPr dirty="0" spc="20">
                <a:solidFill>
                  <a:srgbClr val="0E0E0E"/>
                </a:solidFill>
              </a:rPr>
              <a:t> </a:t>
            </a:r>
            <a:r>
              <a:rPr dirty="0" spc="-10">
                <a:solidFill>
                  <a:srgbClr val="0E0E0E"/>
                </a:solidFill>
              </a:rPr>
              <a:t>state.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3618" y="1453896"/>
            <a:ext cx="2166857" cy="2167127"/>
          </a:xfrm>
          <a:prstGeom prst="rect">
            <a:avLst/>
          </a:prstGeom>
        </p:spPr>
      </p:pic>
      <p:sp>
        <p:nvSpPr>
          <p:cNvPr id="3" name="object 3" descr="">
            <a:hlinkClick r:id="rId3"/>
          </p:cNvPr>
          <p:cNvSpPr/>
          <p:nvPr/>
        </p:nvSpPr>
        <p:spPr>
          <a:xfrm>
            <a:off x="6613333" y="4194047"/>
            <a:ext cx="1350645" cy="210820"/>
          </a:xfrm>
          <a:custGeom>
            <a:avLst/>
            <a:gdLst/>
            <a:ahLst/>
            <a:cxnLst/>
            <a:rect l="l" t="t" r="r" b="b"/>
            <a:pathLst>
              <a:path w="1350645" h="210820">
                <a:moveTo>
                  <a:pt x="1350264" y="210311"/>
                </a:moveTo>
                <a:lnTo>
                  <a:pt x="0" y="210311"/>
                </a:lnTo>
                <a:lnTo>
                  <a:pt x="0" y="0"/>
                </a:lnTo>
                <a:lnTo>
                  <a:pt x="1350264" y="0"/>
                </a:lnTo>
                <a:lnTo>
                  <a:pt x="1350264" y="2103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100"/>
              </a:spcBef>
            </a:pPr>
            <a:r>
              <a:rPr dirty="0" sz="1900" spc="-160">
                <a:solidFill>
                  <a:srgbClr val="2F2F67"/>
                </a:solidFill>
              </a:rPr>
              <a:t>Key</a:t>
            </a:r>
            <a:r>
              <a:rPr dirty="0" sz="1900" spc="-185">
                <a:solidFill>
                  <a:srgbClr val="2F2F67"/>
                </a:solidFill>
              </a:rPr>
              <a:t> </a:t>
            </a:r>
            <a:r>
              <a:rPr dirty="0" sz="1900" spc="-120">
                <a:solidFill>
                  <a:srgbClr val="2B2D67"/>
                </a:solidFill>
              </a:rPr>
              <a:t>Features</a:t>
            </a:r>
            <a:endParaRPr sz="1900"/>
          </a:p>
        </p:txBody>
      </p:sp>
      <p:sp>
        <p:nvSpPr>
          <p:cNvPr id="9" name="object 9" descr=""/>
          <p:cNvSpPr txBox="1"/>
          <p:nvPr/>
        </p:nvSpPr>
        <p:spPr>
          <a:xfrm>
            <a:off x="6649349" y="4237591"/>
            <a:ext cx="443865" cy="1193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z="650" spc="-85">
                <a:solidFill>
                  <a:srgbClr val="FFFFFF"/>
                </a:solidFill>
                <a:latin typeface="Courier New"/>
                <a:cs typeface="Courier New"/>
                <a:hlinkClick r:id="rId3"/>
              </a:rPr>
              <a:t>^œn'ea</a:t>
            </a:r>
            <a:r>
              <a:rPr dirty="0" sz="650" spc="-65">
                <a:solidFill>
                  <a:srgbClr val="FFFFFF"/>
                </a:solidFill>
                <a:latin typeface="Courier New"/>
                <a:cs typeface="Courier New"/>
                <a:hlinkClick r:id="rId3"/>
              </a:rPr>
              <a:t> </a:t>
            </a:r>
            <a:r>
              <a:rPr dirty="0" sz="650" spc="-95">
                <a:solidFill>
                  <a:srgbClr val="FFFFFF"/>
                </a:solidFill>
                <a:latin typeface="Courier New"/>
                <a:cs typeface="Courier New"/>
                <a:hlinkClick r:id="rId3"/>
              </a:rPr>
              <a:t>1°nç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272343" y="4237591"/>
            <a:ext cx="553720" cy="1193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z="650" spc="-70">
                <a:solidFill>
                  <a:srgbClr val="FFFFFF"/>
                </a:solidFill>
                <a:latin typeface="Courier New"/>
                <a:cs typeface="Courier New"/>
                <a:hlinkClick r:id="rId3"/>
              </a:rPr>
              <a:t>preseutotions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54918" y="1532382"/>
            <a:ext cx="2199640" cy="342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6240" marR="5080" indent="-384175">
              <a:lnSpc>
                <a:spcPct val="109500"/>
              </a:lnSpc>
              <a:spcBef>
                <a:spcPts val="100"/>
              </a:spcBef>
            </a:pPr>
            <a:r>
              <a:rPr dirty="0" sz="950">
                <a:solidFill>
                  <a:srgbClr val="0F0F0F"/>
                </a:solidFill>
                <a:latin typeface="Arial MT"/>
                <a:cs typeface="Arial MT"/>
              </a:rPr>
              <a:t>Multiple</a:t>
            </a:r>
            <a:r>
              <a:rPr dirty="0" sz="950" spc="17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F0F0F"/>
                </a:solidFill>
                <a:latin typeface="Arial MT"/>
                <a:cs typeface="Arial MT"/>
              </a:rPr>
              <a:t>Drawing</a:t>
            </a:r>
            <a:r>
              <a:rPr dirty="0" sz="950" spc="18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E0E0E"/>
                </a:solidFill>
                <a:latin typeface="Arial MT"/>
                <a:cs typeface="Arial MT"/>
              </a:rPr>
              <a:t>Tools:</a:t>
            </a:r>
            <a:r>
              <a:rPr dirty="0" sz="950" spc="7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C0C0C"/>
                </a:solidFill>
                <a:latin typeface="Arial MT"/>
                <a:cs typeface="Arial MT"/>
              </a:rPr>
              <a:t>Circle,</a:t>
            </a:r>
            <a:r>
              <a:rPr dirty="0" sz="950" spc="9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0C0C0C"/>
                </a:solidFill>
                <a:latin typeface="Arial MT"/>
                <a:cs typeface="Arial MT"/>
              </a:rPr>
              <a:t>Square, </a:t>
            </a:r>
            <a:r>
              <a:rPr dirty="0" sz="950">
                <a:solidFill>
                  <a:srgbClr val="0F0F0F"/>
                </a:solidFill>
                <a:latin typeface="Arial MT"/>
                <a:cs typeface="Arial MT"/>
              </a:rPr>
              <a:t>Line,</a:t>
            </a:r>
            <a:r>
              <a:rPr dirty="0" sz="950" spc="5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F0F0F"/>
                </a:solidFill>
                <a:latin typeface="Arial MT"/>
                <a:cs typeface="Arial MT"/>
              </a:rPr>
              <a:t>Stylus</a:t>
            </a:r>
            <a:r>
              <a:rPr dirty="0" sz="950" spc="22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F0F0F"/>
                </a:solidFill>
                <a:latin typeface="Arial MT"/>
                <a:cs typeface="Arial MT"/>
              </a:rPr>
              <a:t>(freehand</a:t>
            </a:r>
            <a:r>
              <a:rPr dirty="0" sz="950" spc="16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0E0E0E"/>
                </a:solidFill>
                <a:latin typeface="Arial MT"/>
                <a:cs typeface="Arial MT"/>
              </a:rPr>
              <a:t>drawing).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52522" y="3072383"/>
            <a:ext cx="2303145" cy="516255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algn="r" marL="252095" marR="6350" indent="-240029">
              <a:lnSpc>
                <a:spcPts val="1250"/>
              </a:lnSpc>
              <a:spcBef>
                <a:spcPts val="200"/>
              </a:spcBef>
            </a:pPr>
            <a:r>
              <a:rPr dirty="0" sz="1100" spc="-70">
                <a:solidFill>
                  <a:srgbClr val="0F0F0F"/>
                </a:solidFill>
                <a:latin typeface="Arial MT"/>
                <a:cs typeface="Arial MT"/>
              </a:rPr>
              <a:t>Dynamic</a:t>
            </a:r>
            <a:r>
              <a:rPr dirty="0" sz="1100" spc="6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100" spc="-114">
                <a:solidFill>
                  <a:srgbClr val="0F0F0F"/>
                </a:solidFill>
                <a:latin typeface="Arial MT"/>
                <a:cs typeface="Arial MT"/>
              </a:rPr>
              <a:t>UI</a:t>
            </a:r>
            <a:r>
              <a:rPr dirty="0" sz="1100" spc="-1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100" spc="-80">
                <a:solidFill>
                  <a:srgbClr val="0E0E0E"/>
                </a:solidFill>
                <a:latin typeface="Arial MT"/>
                <a:cs typeface="Arial MT"/>
              </a:rPr>
              <a:t>Feedback:</a:t>
            </a:r>
            <a:r>
              <a:rPr dirty="0" sz="1100" spc="1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1100" spc="-30">
                <a:solidFill>
                  <a:srgbClr val="0E0E0E"/>
                </a:solidFill>
                <a:latin typeface="Arial MT"/>
                <a:cs typeface="Arial MT"/>
              </a:rPr>
              <a:t>Instructions</a:t>
            </a:r>
            <a:r>
              <a:rPr dirty="0" sz="1100" spc="7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1100" spc="-30">
                <a:solidFill>
                  <a:srgbClr val="0C0C0C"/>
                </a:solidFill>
                <a:latin typeface="Arial MT"/>
                <a:cs typeface="Arial MT"/>
              </a:rPr>
              <a:t>label </a:t>
            </a:r>
            <a:r>
              <a:rPr dirty="0" sz="1100" spc="-45">
                <a:solidFill>
                  <a:srgbClr val="0F0F0F"/>
                </a:solidFill>
                <a:latin typeface="Arial MT"/>
                <a:cs typeface="Arial MT"/>
              </a:rPr>
              <a:t>updates</a:t>
            </a:r>
            <a:r>
              <a:rPr dirty="0" sz="1100" spc="3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100" spc="-70">
                <a:solidFill>
                  <a:srgbClr val="0E0E0E"/>
                </a:solidFill>
                <a:latin typeface="Arial MT"/>
                <a:cs typeface="Arial MT"/>
              </a:rPr>
              <a:t>based</a:t>
            </a:r>
            <a:r>
              <a:rPr dirty="0" sz="1100" spc="-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1100" spc="-85">
                <a:solidFill>
                  <a:srgbClr val="0F0F0F"/>
                </a:solidFill>
                <a:latin typeface="Arial MT"/>
                <a:cs typeface="Arial MT"/>
              </a:rPr>
              <a:t>on</a:t>
            </a:r>
            <a:r>
              <a:rPr dirty="0" sz="110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100" spc="-45">
                <a:solidFill>
                  <a:srgbClr val="0F0F0F"/>
                </a:solidFill>
                <a:latin typeface="Arial MT"/>
                <a:cs typeface="Arial MT"/>
              </a:rPr>
              <a:t>selected</a:t>
            </a:r>
            <a:r>
              <a:rPr dirty="0" sz="1100" spc="-1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11111"/>
                </a:solidFill>
                <a:latin typeface="Arial MT"/>
                <a:cs typeface="Arial MT"/>
              </a:rPr>
              <a:t>tool</a:t>
            </a:r>
            <a:r>
              <a:rPr dirty="0" sz="1100" spc="-3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0F0F0F"/>
                </a:solidFill>
                <a:latin typeface="Arial MT"/>
                <a:cs typeface="Arial MT"/>
              </a:rPr>
              <a:t>and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ts val="1265"/>
              </a:lnSpc>
            </a:pPr>
            <a:r>
              <a:rPr dirty="0" sz="1100" spc="-10">
                <a:solidFill>
                  <a:srgbClr val="0E0E0E"/>
                </a:solidFill>
                <a:latin typeface="Arial MT"/>
                <a:cs typeface="Arial MT"/>
              </a:rPr>
              <a:t>actions.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268593" y="1447398"/>
            <a:ext cx="2110740" cy="5143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95"/>
              </a:spcBef>
            </a:pPr>
            <a:r>
              <a:rPr dirty="0" sz="1000" spc="-10">
                <a:solidFill>
                  <a:srgbClr val="0F0F0F"/>
                </a:solidFill>
                <a:latin typeface="Arial MT"/>
                <a:cs typeface="Arial MT"/>
              </a:rPr>
              <a:t>Shape</a:t>
            </a:r>
            <a:r>
              <a:rPr dirty="0" sz="1000" spc="3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C0C0C"/>
                </a:solidFill>
                <a:latin typeface="Arial MT"/>
                <a:cs typeface="Arial MT"/>
              </a:rPr>
              <a:t>Customization:</a:t>
            </a:r>
            <a:r>
              <a:rPr dirty="0" sz="1000" spc="-4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0A0A0A"/>
                </a:solidFill>
                <a:latin typeface="Arial MT"/>
                <a:cs typeface="Arial MT"/>
              </a:rPr>
              <a:t>Adjustable </a:t>
            </a:r>
            <a:r>
              <a:rPr dirty="0" sz="950" spc="20">
                <a:solidFill>
                  <a:srgbClr val="0F0F0F"/>
                </a:solidFill>
                <a:latin typeface="Arial MT"/>
                <a:cs typeface="Arial MT"/>
              </a:rPr>
              <a:t>Size/Thickness</a:t>
            </a:r>
            <a:r>
              <a:rPr dirty="0" sz="950" spc="6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950" spc="10">
                <a:solidFill>
                  <a:srgbClr val="0F0F0F"/>
                </a:solidFill>
                <a:latin typeface="Arial MT"/>
                <a:cs typeface="Arial MT"/>
              </a:rPr>
              <a:t>via</a:t>
            </a:r>
            <a:r>
              <a:rPr dirty="0" sz="950" spc="3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950" spc="10">
                <a:solidFill>
                  <a:srgbClr val="0F0F0F"/>
                </a:solidFill>
                <a:latin typeface="Arial MT"/>
                <a:cs typeface="Arial MT"/>
              </a:rPr>
              <a:t>Slider,</a:t>
            </a:r>
            <a:r>
              <a:rPr dirty="0" sz="950" spc="10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0E0E0E"/>
                </a:solidFill>
                <a:latin typeface="Arial MT"/>
                <a:cs typeface="Arial MT"/>
              </a:rPr>
              <a:t>Selectable </a:t>
            </a:r>
            <a:r>
              <a:rPr dirty="0" sz="1000">
                <a:solidFill>
                  <a:srgbClr val="0C0C0C"/>
                </a:solidFill>
                <a:latin typeface="Arial MT"/>
                <a:cs typeface="Arial MT"/>
              </a:rPr>
              <a:t>Colors</a:t>
            </a:r>
            <a:r>
              <a:rPr dirty="0" sz="1000" spc="2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F0F0F"/>
                </a:solidFill>
                <a:latin typeface="Arial MT"/>
                <a:cs typeface="Arial MT"/>
              </a:rPr>
              <a:t>via</a:t>
            </a:r>
            <a:r>
              <a:rPr dirty="0" sz="1000" spc="-2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0E0E0E"/>
                </a:solidFill>
                <a:latin typeface="Arial MT"/>
                <a:cs typeface="Arial MT"/>
              </a:rPr>
              <a:t>Dropdown.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266715" y="2995422"/>
            <a:ext cx="2345055" cy="671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4" marR="5080" indent="-2540">
              <a:lnSpc>
                <a:spcPct val="111600"/>
              </a:lnSpc>
              <a:spcBef>
                <a:spcPts val="100"/>
              </a:spcBef>
            </a:pPr>
            <a:r>
              <a:rPr dirty="0" sz="950">
                <a:solidFill>
                  <a:srgbClr val="0C0C0C"/>
                </a:solidFill>
                <a:latin typeface="Arial MT"/>
                <a:cs typeface="Arial MT"/>
              </a:rPr>
              <a:t>Interaction:</a:t>
            </a:r>
            <a:r>
              <a:rPr dirty="0" sz="950" spc="25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E0E0E"/>
                </a:solidFill>
                <a:latin typeface="Arial MT"/>
                <a:cs typeface="Arial MT"/>
              </a:rPr>
              <a:t>Shape</a:t>
            </a:r>
            <a:r>
              <a:rPr dirty="0" sz="950" spc="16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C0C0C"/>
                </a:solidFill>
                <a:latin typeface="Arial MT"/>
                <a:cs typeface="Arial MT"/>
              </a:rPr>
              <a:t>Selection</a:t>
            </a:r>
            <a:r>
              <a:rPr dirty="0" sz="950" spc="29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950" spc="-25">
                <a:solidFill>
                  <a:srgbClr val="0F0F0F"/>
                </a:solidFill>
                <a:latin typeface="Arial MT"/>
                <a:cs typeface="Arial MT"/>
              </a:rPr>
              <a:t>and </a:t>
            </a:r>
            <a:r>
              <a:rPr dirty="0" sz="950">
                <a:solidFill>
                  <a:srgbClr val="0C0C0C"/>
                </a:solidFill>
                <a:latin typeface="Arial MT"/>
                <a:cs typeface="Arial MT"/>
              </a:rPr>
              <a:t>Movement</a:t>
            </a:r>
            <a:r>
              <a:rPr dirty="0" sz="950" spc="22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C0C0C"/>
                </a:solidFill>
                <a:latin typeface="Arial MT"/>
                <a:cs typeface="Arial MT"/>
              </a:rPr>
              <a:t>(drag</a:t>
            </a:r>
            <a:r>
              <a:rPr dirty="0" sz="950" spc="114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70526"/>
                </a:solidFill>
                <a:latin typeface="Arial MT"/>
                <a:cs typeface="Arial MT"/>
              </a:rPr>
              <a:t>&amp;</a:t>
            </a:r>
            <a:r>
              <a:rPr dirty="0" sz="950" spc="50">
                <a:solidFill>
                  <a:srgbClr val="07052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C0C0C"/>
                </a:solidFill>
                <a:latin typeface="Arial MT"/>
                <a:cs typeface="Arial MT"/>
              </a:rPr>
              <a:t>drop),</a:t>
            </a:r>
            <a:r>
              <a:rPr dirty="0" sz="950" spc="4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C0C0C"/>
                </a:solidFill>
                <a:latin typeface="Arial MT"/>
                <a:cs typeface="Arial MT"/>
              </a:rPr>
              <a:t>Eraser</a:t>
            </a:r>
            <a:r>
              <a:rPr dirty="0" sz="950" spc="19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950" spc="-20">
                <a:solidFill>
                  <a:srgbClr val="0E0E0E"/>
                </a:solidFill>
                <a:latin typeface="Arial MT"/>
                <a:cs typeface="Arial MT"/>
              </a:rPr>
              <a:t>Tool </a:t>
            </a:r>
            <a:r>
              <a:rPr dirty="0" sz="950">
                <a:solidFill>
                  <a:srgbClr val="0C0C0C"/>
                </a:solidFill>
                <a:latin typeface="Arial MT"/>
                <a:cs typeface="Arial MT"/>
              </a:rPr>
              <a:t>(click/drag</a:t>
            </a:r>
            <a:r>
              <a:rPr dirty="0" sz="950" spc="24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F0F0F"/>
                </a:solidFill>
                <a:latin typeface="Arial MT"/>
                <a:cs typeface="Arial MT"/>
              </a:rPr>
              <a:t>to</a:t>
            </a:r>
            <a:r>
              <a:rPr dirty="0" sz="950" spc="13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F0F0F"/>
                </a:solidFill>
                <a:latin typeface="Arial MT"/>
                <a:cs typeface="Arial MT"/>
              </a:rPr>
              <a:t>erase),</a:t>
            </a:r>
            <a:r>
              <a:rPr dirty="0" sz="950" spc="14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E0E0E"/>
                </a:solidFill>
                <a:latin typeface="Arial MT"/>
                <a:cs typeface="Arial MT"/>
              </a:rPr>
              <a:t>'Clean</a:t>
            </a:r>
            <a:r>
              <a:rPr dirty="0" sz="950" spc="23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F0F0F"/>
                </a:solidFill>
                <a:latin typeface="Arial MT"/>
                <a:cs typeface="Arial MT"/>
              </a:rPr>
              <a:t>All'</a:t>
            </a:r>
            <a:r>
              <a:rPr dirty="0" sz="950" spc="13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F0F0F"/>
                </a:solidFill>
                <a:latin typeface="Arial MT"/>
                <a:cs typeface="Arial MT"/>
              </a:rPr>
              <a:t>button</a:t>
            </a:r>
            <a:r>
              <a:rPr dirty="0" sz="950" spc="11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950" spc="-25">
                <a:solidFill>
                  <a:srgbClr val="0F0F0F"/>
                </a:solidFill>
                <a:latin typeface="Arial MT"/>
                <a:cs typeface="Arial MT"/>
              </a:rPr>
              <a:t>to </a:t>
            </a:r>
            <a:r>
              <a:rPr dirty="0" sz="950">
                <a:solidFill>
                  <a:srgbClr val="0E0E0E"/>
                </a:solidFill>
                <a:latin typeface="Arial MT"/>
                <a:cs typeface="Arial MT"/>
              </a:rPr>
              <a:t>clear</a:t>
            </a:r>
            <a:r>
              <a:rPr dirty="0" sz="950" spc="18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C0C0C"/>
                </a:solidFill>
                <a:latin typeface="Arial MT"/>
                <a:cs typeface="Arial MT"/>
              </a:rPr>
              <a:t>the</a:t>
            </a:r>
            <a:r>
              <a:rPr dirty="0" sz="950" spc="9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0C0C0C"/>
                </a:solidFill>
                <a:latin typeface="Arial MT"/>
                <a:cs typeface="Arial MT"/>
              </a:rPr>
              <a:t>canvas.</a:t>
            </a:r>
            <a:endParaRPr sz="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293333" y="1645920"/>
            <a:ext cx="0" cy="615950"/>
          </a:xfrm>
          <a:custGeom>
            <a:avLst/>
            <a:gdLst/>
            <a:ahLst/>
            <a:cxnLst/>
            <a:rect l="l" t="t" r="r" b="b"/>
            <a:pathLst>
              <a:path w="0" h="615950">
                <a:moveTo>
                  <a:pt x="0" y="615696"/>
                </a:moveTo>
                <a:lnTo>
                  <a:pt x="0" y="0"/>
                </a:lnTo>
              </a:path>
            </a:pathLst>
          </a:custGeom>
          <a:ln w="9142">
            <a:solidFill>
              <a:srgbClr val="2B2F67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2288762" y="1645920"/>
            <a:ext cx="612775" cy="615950"/>
            <a:chOff x="2288762" y="1645920"/>
            <a:chExt cx="612775" cy="615950"/>
          </a:xfrm>
        </p:grpSpPr>
        <p:sp>
          <p:nvSpPr>
            <p:cNvPr id="4" name="object 4" descr=""/>
            <p:cNvSpPr/>
            <p:nvPr/>
          </p:nvSpPr>
          <p:spPr>
            <a:xfrm>
              <a:off x="2896761" y="1645920"/>
              <a:ext cx="0" cy="615950"/>
            </a:xfrm>
            <a:custGeom>
              <a:avLst/>
              <a:gdLst/>
              <a:ahLst/>
              <a:cxnLst/>
              <a:rect l="l" t="t" r="r" b="b"/>
              <a:pathLst>
                <a:path w="0" h="615950">
                  <a:moveTo>
                    <a:pt x="0" y="615696"/>
                  </a:moveTo>
                  <a:lnTo>
                    <a:pt x="0" y="0"/>
                  </a:lnTo>
                </a:path>
              </a:pathLst>
            </a:custGeom>
            <a:ln w="9142">
              <a:solidFill>
                <a:srgbClr val="2B2F6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288762" y="1650492"/>
              <a:ext cx="612775" cy="0"/>
            </a:xfrm>
            <a:custGeom>
              <a:avLst/>
              <a:gdLst/>
              <a:ahLst/>
              <a:cxnLst/>
              <a:rect l="l" t="t" r="r" b="b"/>
              <a:pathLst>
                <a:path w="612775" h="0">
                  <a:moveTo>
                    <a:pt x="0" y="0"/>
                  </a:moveTo>
                  <a:lnTo>
                    <a:pt x="612571" y="0"/>
                  </a:lnTo>
                </a:path>
              </a:pathLst>
            </a:custGeom>
            <a:ln w="9144">
              <a:solidFill>
                <a:srgbClr val="2B2F6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288762" y="2257044"/>
              <a:ext cx="612775" cy="0"/>
            </a:xfrm>
            <a:custGeom>
              <a:avLst/>
              <a:gdLst/>
              <a:ahLst/>
              <a:cxnLst/>
              <a:rect l="l" t="t" r="r" b="b"/>
              <a:pathLst>
                <a:path w="612775" h="0">
                  <a:moveTo>
                    <a:pt x="0" y="0"/>
                  </a:moveTo>
                  <a:lnTo>
                    <a:pt x="612571" y="0"/>
                  </a:lnTo>
                </a:path>
              </a:pathLst>
            </a:custGeom>
            <a:ln w="9144">
              <a:solidFill>
                <a:srgbClr val="2B2F6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 descr=""/>
          <p:cNvGrpSpPr/>
          <p:nvPr/>
        </p:nvGrpSpPr>
        <p:grpSpPr>
          <a:xfrm>
            <a:off x="402285" y="1633727"/>
            <a:ext cx="622300" cy="628015"/>
            <a:chOff x="402285" y="1633727"/>
            <a:chExt cx="622300" cy="628015"/>
          </a:xfrm>
        </p:grpSpPr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2285" y="1633727"/>
              <a:ext cx="621714" cy="627887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2285" y="1633727"/>
              <a:ext cx="621714" cy="627887"/>
            </a:xfrm>
            <a:prstGeom prst="rect">
              <a:avLst/>
            </a:prstGeom>
          </p:spPr>
        </p:pic>
      </p:grpSp>
      <p:grpSp>
        <p:nvGrpSpPr>
          <p:cNvPr id="10" name="object 10" descr=""/>
          <p:cNvGrpSpPr/>
          <p:nvPr/>
        </p:nvGrpSpPr>
        <p:grpSpPr>
          <a:xfrm>
            <a:off x="2462476" y="1780032"/>
            <a:ext cx="280670" cy="335280"/>
            <a:chOff x="2462476" y="1780032"/>
            <a:chExt cx="280670" cy="335280"/>
          </a:xfrm>
        </p:grpSpPr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62476" y="1780032"/>
              <a:ext cx="280380" cy="335280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62476" y="1780032"/>
              <a:ext cx="280380" cy="335280"/>
            </a:xfrm>
            <a:prstGeom prst="rect">
              <a:avLst/>
            </a:prstGeom>
          </p:spPr>
        </p:pic>
      </p:grpSp>
      <p:grpSp>
        <p:nvGrpSpPr>
          <p:cNvPr id="13" name="object 13" descr=""/>
          <p:cNvGrpSpPr/>
          <p:nvPr/>
        </p:nvGrpSpPr>
        <p:grpSpPr>
          <a:xfrm>
            <a:off x="4175238" y="1633727"/>
            <a:ext cx="628015" cy="628015"/>
            <a:chOff x="4175238" y="1633727"/>
            <a:chExt cx="628015" cy="628015"/>
          </a:xfrm>
        </p:grpSpPr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75238" y="1633727"/>
              <a:ext cx="627809" cy="627887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75238" y="1633727"/>
              <a:ext cx="627809" cy="627887"/>
            </a:xfrm>
            <a:prstGeom prst="rect">
              <a:avLst/>
            </a:prstGeom>
          </p:spPr>
        </p:pic>
      </p:grpSp>
      <p:grpSp>
        <p:nvGrpSpPr>
          <p:cNvPr id="16" name="object 16" descr=""/>
          <p:cNvGrpSpPr/>
          <p:nvPr/>
        </p:nvGrpSpPr>
        <p:grpSpPr>
          <a:xfrm>
            <a:off x="6070856" y="1633727"/>
            <a:ext cx="622300" cy="628015"/>
            <a:chOff x="6070856" y="1633727"/>
            <a:chExt cx="622300" cy="628015"/>
          </a:xfrm>
        </p:grpSpPr>
        <p:pic>
          <p:nvPicPr>
            <p:cNvPr id="17" name="object 1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70856" y="1633727"/>
              <a:ext cx="621714" cy="627887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70856" y="1633727"/>
              <a:ext cx="621714" cy="627887"/>
            </a:xfrm>
            <a:prstGeom prst="rect">
              <a:avLst/>
            </a:prstGeom>
          </p:spPr>
        </p:pic>
      </p:grpSp>
      <p:sp>
        <p:nvSpPr>
          <p:cNvPr id="19" name="object 19" descr="">
            <a:hlinkClick r:id="rId10"/>
          </p:cNvPr>
          <p:cNvSpPr/>
          <p:nvPr/>
        </p:nvSpPr>
        <p:spPr>
          <a:xfrm>
            <a:off x="6613333" y="4194047"/>
            <a:ext cx="1350645" cy="210820"/>
          </a:xfrm>
          <a:custGeom>
            <a:avLst/>
            <a:gdLst/>
            <a:ahLst/>
            <a:cxnLst/>
            <a:rect l="l" t="t" r="r" b="b"/>
            <a:pathLst>
              <a:path w="1350645" h="210820">
                <a:moveTo>
                  <a:pt x="1350264" y="210311"/>
                </a:moveTo>
                <a:lnTo>
                  <a:pt x="0" y="210311"/>
                </a:lnTo>
                <a:lnTo>
                  <a:pt x="0" y="0"/>
                </a:lnTo>
                <a:lnTo>
                  <a:pt x="1350264" y="0"/>
                </a:lnTo>
                <a:lnTo>
                  <a:pt x="1350264" y="2103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 sz="1900" spc="-125">
                <a:solidFill>
                  <a:srgbClr val="2B2D62"/>
                </a:solidFill>
              </a:rPr>
              <a:t>Core</a:t>
            </a:r>
            <a:r>
              <a:rPr dirty="0" sz="1900" spc="-190">
                <a:solidFill>
                  <a:srgbClr val="2B2D62"/>
                </a:solidFill>
              </a:rPr>
              <a:t> </a:t>
            </a:r>
            <a:r>
              <a:rPr dirty="0" sz="1900" spc="-110">
                <a:solidFill>
                  <a:srgbClr val="2D2D67"/>
                </a:solidFill>
              </a:rPr>
              <a:t>Components</a:t>
            </a:r>
            <a:r>
              <a:rPr dirty="0" sz="1900" spc="-70">
                <a:solidFill>
                  <a:srgbClr val="2D2D67"/>
                </a:solidFill>
              </a:rPr>
              <a:t> </a:t>
            </a:r>
            <a:r>
              <a:rPr dirty="0" sz="1900" spc="-185">
                <a:solidFill>
                  <a:srgbClr val="282D6B"/>
                </a:solidFill>
              </a:rPr>
              <a:t>&amp;</a:t>
            </a:r>
            <a:r>
              <a:rPr dirty="0" sz="1900" spc="-225">
                <a:solidFill>
                  <a:srgbClr val="282D6B"/>
                </a:solidFill>
              </a:rPr>
              <a:t> </a:t>
            </a:r>
            <a:r>
              <a:rPr dirty="0" sz="1900" spc="-100">
                <a:solidFill>
                  <a:srgbClr val="2F2F6B"/>
                </a:solidFill>
              </a:rPr>
              <a:t>Classes</a:t>
            </a:r>
            <a:endParaRPr sz="1900"/>
          </a:p>
        </p:txBody>
      </p:sp>
      <p:sp>
        <p:nvSpPr>
          <p:cNvPr id="25" name="object 25" descr=""/>
          <p:cNvSpPr txBox="1"/>
          <p:nvPr/>
        </p:nvSpPr>
        <p:spPr>
          <a:xfrm>
            <a:off x="6649349" y="4237591"/>
            <a:ext cx="443865" cy="1193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z="650" spc="-85">
                <a:solidFill>
                  <a:srgbClr val="FFFFFF"/>
                </a:solidFill>
                <a:latin typeface="Courier New"/>
                <a:cs typeface="Courier New"/>
                <a:hlinkClick r:id="rId10"/>
              </a:rPr>
              <a:t>^œn'ea</a:t>
            </a:r>
            <a:r>
              <a:rPr dirty="0" sz="650" spc="-65">
                <a:solidFill>
                  <a:srgbClr val="FFFFFF"/>
                </a:solidFill>
                <a:latin typeface="Courier New"/>
                <a:cs typeface="Courier New"/>
                <a:hlinkClick r:id="rId10"/>
              </a:rPr>
              <a:t> </a:t>
            </a:r>
            <a:r>
              <a:rPr dirty="0" sz="650" spc="-95">
                <a:solidFill>
                  <a:srgbClr val="FFFFFF"/>
                </a:solidFill>
                <a:latin typeface="Courier New"/>
                <a:cs typeface="Courier New"/>
                <a:hlinkClick r:id="rId10"/>
              </a:rPr>
              <a:t>1°nç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7272343" y="4237591"/>
            <a:ext cx="553720" cy="1193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z="650" spc="-70">
                <a:solidFill>
                  <a:srgbClr val="FFFFFF"/>
                </a:solidFill>
                <a:latin typeface="Courier New"/>
                <a:cs typeface="Courier New"/>
                <a:hlinkClick r:id="rId10"/>
              </a:rPr>
              <a:t>preseutotions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391613" y="2386329"/>
            <a:ext cx="1628139" cy="89281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 indent="1905">
              <a:lnSpc>
                <a:spcPct val="130600"/>
              </a:lnSpc>
              <a:spcBef>
                <a:spcPts val="85"/>
              </a:spcBef>
            </a:pPr>
            <a:r>
              <a:rPr dirty="0" sz="850" spc="10">
                <a:solidFill>
                  <a:srgbClr val="0F0F0F"/>
                </a:solidFill>
                <a:latin typeface="Arial MT"/>
                <a:cs typeface="Arial MT"/>
              </a:rPr>
              <a:t>Shape</a:t>
            </a:r>
            <a:r>
              <a:rPr dirty="0" sz="850" spc="6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10">
                <a:solidFill>
                  <a:srgbClr val="0E0E0E"/>
                </a:solidFill>
                <a:latin typeface="Arial MT"/>
                <a:cs typeface="Arial MT"/>
              </a:rPr>
              <a:t>(Abstract</a:t>
            </a:r>
            <a:r>
              <a:rPr dirty="0" sz="850" spc="114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 spc="10">
                <a:solidFill>
                  <a:srgbClr val="050A24"/>
                </a:solidFill>
                <a:latin typeface="Arial MT"/>
                <a:cs typeface="Arial MT"/>
              </a:rPr>
              <a:t>Class)</a:t>
            </a:r>
            <a:r>
              <a:rPr dirty="0" sz="850" spc="110">
                <a:solidFill>
                  <a:srgbClr val="050A24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C0C0C"/>
                </a:solidFill>
                <a:latin typeface="Arial MT"/>
                <a:cs typeface="Arial MT"/>
              </a:rPr>
              <a:t>defines </a:t>
            </a:r>
            <a:r>
              <a:rPr dirty="0" sz="850" spc="50">
                <a:solidFill>
                  <a:srgbClr val="0F0F0F"/>
                </a:solidFill>
                <a:latin typeface="Arial MT"/>
                <a:cs typeface="Arial MT"/>
              </a:rPr>
              <a:t>common</a:t>
            </a:r>
            <a:r>
              <a:rPr dirty="0" sz="850" spc="6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20">
                <a:solidFill>
                  <a:srgbClr val="0F0F0F"/>
                </a:solidFill>
                <a:latin typeface="Arial MT"/>
                <a:cs typeface="Arial MT"/>
              </a:rPr>
              <a:t>attributes</a:t>
            </a:r>
            <a:r>
              <a:rPr dirty="0" sz="850" spc="4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111111"/>
                </a:solidFill>
                <a:latin typeface="Arial MT"/>
                <a:cs typeface="Arial MT"/>
              </a:rPr>
              <a:t>and </a:t>
            </a:r>
            <a:r>
              <a:rPr dirty="0" sz="850" spc="-10">
                <a:solidFill>
                  <a:srgbClr val="0C0C0C"/>
                </a:solidFill>
                <a:latin typeface="Arial MT"/>
                <a:cs typeface="Arial MT"/>
              </a:rPr>
              <a:t>methods.</a:t>
            </a:r>
            <a:endParaRPr sz="850">
              <a:latin typeface="Arial MT"/>
              <a:cs typeface="Arial MT"/>
            </a:endParaRPr>
          </a:p>
          <a:p>
            <a:pPr marL="15875" marR="24765" indent="-3175">
              <a:lnSpc>
                <a:spcPct val="125000"/>
              </a:lnSpc>
              <a:spcBef>
                <a:spcPts val="445"/>
              </a:spcBef>
            </a:pPr>
            <a:r>
              <a:rPr dirty="0" sz="800">
                <a:solidFill>
                  <a:srgbClr val="0F0F0F"/>
                </a:solidFill>
                <a:latin typeface="Arial MT"/>
                <a:cs typeface="Arial MT"/>
              </a:rPr>
              <a:t>It</a:t>
            </a:r>
            <a:r>
              <a:rPr dirty="0" sz="800" spc="229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E0E0E"/>
                </a:solidFill>
                <a:latin typeface="Arial MT"/>
                <a:cs typeface="Arial MT"/>
              </a:rPr>
              <a:t>includes</a:t>
            </a:r>
            <a:r>
              <a:rPr dirty="0" sz="800" spc="16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F0F0F"/>
                </a:solidFill>
                <a:latin typeface="Arial MT"/>
                <a:cs typeface="Arial MT"/>
              </a:rPr>
              <a:t>abstract</a:t>
            </a:r>
            <a:r>
              <a:rPr dirty="0" sz="800" spc="27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F0F0F"/>
                </a:solidFill>
                <a:latin typeface="Arial MT"/>
                <a:cs typeface="Arial MT"/>
              </a:rPr>
              <a:t>methods</a:t>
            </a:r>
            <a:r>
              <a:rPr dirty="0" sz="800" spc="204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00" spc="-20">
                <a:solidFill>
                  <a:srgbClr val="0F0F0F"/>
                </a:solidFill>
                <a:latin typeface="Arial MT"/>
                <a:cs typeface="Arial MT"/>
              </a:rPr>
              <a:t>like </a:t>
            </a:r>
            <a:r>
              <a:rPr dirty="0" sz="800">
                <a:solidFill>
                  <a:srgbClr val="0F0F0F"/>
                </a:solidFill>
                <a:latin typeface="Arial MT"/>
                <a:cs typeface="Arial MT"/>
              </a:rPr>
              <a:t>draw,</a:t>
            </a:r>
            <a:r>
              <a:rPr dirty="0" sz="800" spc="9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F0F0F"/>
                </a:solidFill>
                <a:latin typeface="Arial MT"/>
                <a:cs typeface="Arial MT"/>
              </a:rPr>
              <a:t>contains,</a:t>
            </a:r>
            <a:r>
              <a:rPr dirty="0" sz="800" spc="114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F0F0F"/>
                </a:solidFill>
                <a:latin typeface="Arial MT"/>
                <a:cs typeface="Arial MT"/>
              </a:rPr>
              <a:t>and</a:t>
            </a:r>
            <a:r>
              <a:rPr dirty="0" sz="800" spc="9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0C0C0C"/>
                </a:solidFill>
                <a:latin typeface="Arial MT"/>
                <a:cs typeface="Arial MT"/>
              </a:rPr>
              <a:t>move.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2279827" y="2386329"/>
            <a:ext cx="1657350" cy="1039494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3335" marR="5080" indent="-1270">
              <a:lnSpc>
                <a:spcPct val="130600"/>
              </a:lnSpc>
              <a:spcBef>
                <a:spcPts val="85"/>
              </a:spcBef>
            </a:pPr>
            <a:r>
              <a:rPr dirty="0" sz="850" spc="20">
                <a:solidFill>
                  <a:srgbClr val="0F0F0F"/>
                </a:solidFill>
                <a:latin typeface="Arial MT"/>
                <a:cs typeface="Arial MT"/>
              </a:rPr>
              <a:t>Concrete</a:t>
            </a:r>
            <a:r>
              <a:rPr dirty="0" sz="850" spc="4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20">
                <a:solidFill>
                  <a:srgbClr val="0F0F0F"/>
                </a:solidFill>
                <a:latin typeface="Arial MT"/>
                <a:cs typeface="Arial MT"/>
              </a:rPr>
              <a:t>Shape</a:t>
            </a:r>
            <a:r>
              <a:rPr dirty="0" sz="850" spc="3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C0C0C"/>
                </a:solidFill>
                <a:latin typeface="Arial MT"/>
                <a:cs typeface="Arial MT"/>
              </a:rPr>
              <a:t>Classes </a:t>
            </a:r>
            <a:r>
              <a:rPr dirty="0" sz="850" spc="20">
                <a:solidFill>
                  <a:srgbClr val="111111"/>
                </a:solidFill>
                <a:latin typeface="Arial MT"/>
                <a:cs typeface="Arial MT"/>
              </a:rPr>
              <a:t>implement</a:t>
            </a:r>
            <a:r>
              <a:rPr dirty="0" sz="850" spc="19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50" spc="20">
                <a:solidFill>
                  <a:srgbClr val="0F0F0F"/>
                </a:solidFill>
                <a:latin typeface="Arial MT"/>
                <a:cs typeface="Arial MT"/>
              </a:rPr>
              <a:t>specific</a:t>
            </a:r>
            <a:r>
              <a:rPr dirty="0" sz="850" spc="13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20">
                <a:solidFill>
                  <a:srgbClr val="111111"/>
                </a:solidFill>
                <a:latin typeface="Arial MT"/>
                <a:cs typeface="Arial MT"/>
              </a:rPr>
              <a:t>methods</a:t>
            </a:r>
            <a:r>
              <a:rPr dirty="0" sz="850" spc="7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0E0E0E"/>
                </a:solidFill>
                <a:latin typeface="Arial MT"/>
                <a:cs typeface="Arial MT"/>
              </a:rPr>
              <a:t>for </a:t>
            </a:r>
            <a:r>
              <a:rPr dirty="0" sz="850" spc="-10">
                <a:solidFill>
                  <a:srgbClr val="0F0F0F"/>
                </a:solidFill>
                <a:latin typeface="Arial MT"/>
                <a:cs typeface="Arial MT"/>
              </a:rPr>
              <a:t>geometry.</a:t>
            </a:r>
            <a:endParaRPr sz="850">
              <a:latin typeface="Arial MT"/>
              <a:cs typeface="Arial MT"/>
            </a:endParaRPr>
          </a:p>
          <a:p>
            <a:pPr marL="17145" marR="108585" indent="-1905">
              <a:lnSpc>
                <a:spcPct val="122500"/>
              </a:lnSpc>
              <a:spcBef>
                <a:spcPts val="470"/>
              </a:spcBef>
            </a:pPr>
            <a:r>
              <a:rPr dirty="0" sz="800">
                <a:solidFill>
                  <a:srgbClr val="0E0E0E"/>
                </a:solidFill>
                <a:latin typeface="Arial MT"/>
                <a:cs typeface="Arial MT"/>
              </a:rPr>
              <a:t>Classes</a:t>
            </a:r>
            <a:r>
              <a:rPr dirty="0" sz="800" spc="16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F0F0F"/>
                </a:solidFill>
                <a:latin typeface="Arial MT"/>
                <a:cs typeface="Arial MT"/>
              </a:rPr>
              <a:t>such</a:t>
            </a:r>
            <a:r>
              <a:rPr dirty="0" sz="800" spc="13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F0F0F"/>
                </a:solidFill>
                <a:latin typeface="Arial MT"/>
                <a:cs typeface="Arial MT"/>
              </a:rPr>
              <a:t>as</a:t>
            </a:r>
            <a:r>
              <a:rPr dirty="0" sz="800" spc="9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E0E0E"/>
                </a:solidFill>
                <a:latin typeface="Arial MT"/>
                <a:cs typeface="Arial MT"/>
              </a:rPr>
              <a:t>Circle,</a:t>
            </a:r>
            <a:r>
              <a:rPr dirty="0" sz="800" spc="114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0C0C0C"/>
                </a:solidFill>
                <a:latin typeface="Arial MT"/>
                <a:cs typeface="Arial MT"/>
              </a:rPr>
              <a:t>Square, </a:t>
            </a:r>
            <a:r>
              <a:rPr dirty="0" sz="800">
                <a:solidFill>
                  <a:srgbClr val="0A0A0A"/>
                </a:solidFill>
                <a:latin typeface="Arial MT"/>
                <a:cs typeface="Arial MT"/>
              </a:rPr>
              <a:t>and</a:t>
            </a:r>
            <a:r>
              <a:rPr dirty="0" sz="800" spc="9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111111"/>
                </a:solidFill>
                <a:latin typeface="Arial MT"/>
                <a:cs typeface="Arial MT"/>
              </a:rPr>
              <a:t>Line</a:t>
            </a:r>
            <a:r>
              <a:rPr dirty="0" sz="800" spc="8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C0C0C"/>
                </a:solidFill>
                <a:latin typeface="Arial MT"/>
                <a:cs typeface="Arial MT"/>
              </a:rPr>
              <a:t>handle</a:t>
            </a:r>
            <a:r>
              <a:rPr dirty="0" sz="800" spc="13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C0C0C"/>
                </a:solidFill>
                <a:latin typeface="Arial MT"/>
                <a:cs typeface="Arial MT"/>
              </a:rPr>
              <a:t>their</a:t>
            </a:r>
            <a:r>
              <a:rPr dirty="0" sz="800" spc="14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00" spc="-25">
                <a:solidFill>
                  <a:srgbClr val="111111"/>
                </a:solidFill>
                <a:latin typeface="Arial MT"/>
                <a:cs typeface="Arial MT"/>
              </a:rPr>
              <a:t>own</a:t>
            </a:r>
            <a:r>
              <a:rPr dirty="0" sz="80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E0E0E"/>
                </a:solidFill>
                <a:latin typeface="Arial MT"/>
                <a:cs typeface="Arial MT"/>
              </a:rPr>
              <a:t>drawing</a:t>
            </a:r>
            <a:r>
              <a:rPr dirty="0" sz="800" spc="14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F0F0F"/>
                </a:solidFill>
                <a:latin typeface="Arial MT"/>
                <a:cs typeface="Arial MT"/>
              </a:rPr>
              <a:t>and</a:t>
            </a:r>
            <a:r>
              <a:rPr dirty="0" sz="800" spc="10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0C0C0C"/>
                </a:solidFill>
                <a:latin typeface="Arial MT"/>
                <a:cs typeface="Arial MT"/>
              </a:rPr>
              <a:t>selection.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4145357" y="2386329"/>
            <a:ext cx="1681480" cy="868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1275" marR="78740" indent="-1270">
              <a:lnSpc>
                <a:spcPct val="129400"/>
              </a:lnSpc>
              <a:spcBef>
                <a:spcPts val="100"/>
              </a:spcBef>
            </a:pPr>
            <a:r>
              <a:rPr dirty="0" sz="850" spc="20">
                <a:solidFill>
                  <a:srgbClr val="0F0F0F"/>
                </a:solidFill>
                <a:latin typeface="Arial MT"/>
                <a:cs typeface="Arial MT"/>
              </a:rPr>
              <a:t>StylusPath manages</a:t>
            </a:r>
            <a:r>
              <a:rPr dirty="0" sz="850" spc="7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111111"/>
                </a:solidFill>
                <a:latin typeface="Arial MT"/>
                <a:cs typeface="Arial MT"/>
              </a:rPr>
              <a:t>freehand </a:t>
            </a:r>
            <a:r>
              <a:rPr dirty="0" sz="850" spc="10">
                <a:solidFill>
                  <a:srgbClr val="111111"/>
                </a:solidFill>
                <a:latin typeface="Arial MT"/>
                <a:cs typeface="Arial MT"/>
              </a:rPr>
              <a:t>drawing</a:t>
            </a:r>
            <a:r>
              <a:rPr dirty="0" sz="850" spc="8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E0E0E"/>
                </a:solidFill>
                <a:latin typeface="Arial MT"/>
                <a:cs typeface="Arial MT"/>
              </a:rPr>
              <a:t>representation.</a:t>
            </a:r>
            <a:endParaRPr sz="85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635"/>
              </a:spcBef>
            </a:pPr>
            <a:r>
              <a:rPr dirty="0" sz="850">
                <a:solidFill>
                  <a:srgbClr val="0C0C0C"/>
                </a:solidFill>
                <a:latin typeface="Arial MT"/>
                <a:cs typeface="Arial MT"/>
              </a:rPr>
              <a:t>It</a:t>
            </a:r>
            <a:r>
              <a:rPr dirty="0" sz="850" spc="1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A0A0A"/>
                </a:solidFill>
                <a:latin typeface="Arial MT"/>
                <a:cs typeface="Arial MT"/>
              </a:rPr>
              <a:t>maintains</a:t>
            </a:r>
            <a:r>
              <a:rPr dirty="0" sz="850" spc="2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F1F1F"/>
                </a:solidFill>
                <a:latin typeface="Arial MT"/>
                <a:cs typeface="Arial MT"/>
              </a:rPr>
              <a:t>a</a:t>
            </a:r>
            <a:r>
              <a:rPr dirty="0" sz="850" spc="-35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E0E0E"/>
                </a:solidFill>
                <a:latin typeface="Arial MT"/>
                <a:cs typeface="Arial MT"/>
              </a:rPr>
              <a:t>list</a:t>
            </a:r>
            <a:r>
              <a:rPr dirty="0" sz="850" spc="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E0E0E"/>
                </a:solidFill>
                <a:latin typeface="Arial MT"/>
                <a:cs typeface="Arial MT"/>
              </a:rPr>
              <a:t>of</a:t>
            </a:r>
            <a:r>
              <a:rPr dirty="0" sz="850" spc="5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C0C0C"/>
                </a:solidFill>
                <a:latin typeface="Arial MT"/>
                <a:cs typeface="Arial MT"/>
              </a:rPr>
              <a:t>Point</a:t>
            </a:r>
            <a:r>
              <a:rPr dirty="0" sz="850" spc="3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A0A0A"/>
                </a:solidFill>
                <a:latin typeface="Arial MT"/>
                <a:cs typeface="Arial MT"/>
              </a:rPr>
              <a:t>objects</a:t>
            </a:r>
            <a:endParaRPr sz="850">
              <a:latin typeface="Arial MT"/>
              <a:cs typeface="Arial MT"/>
            </a:endParaRPr>
          </a:p>
          <a:p>
            <a:pPr marL="41275">
              <a:lnSpc>
                <a:spcPct val="100000"/>
              </a:lnSpc>
              <a:spcBef>
                <a:spcPts val="229"/>
              </a:spcBef>
            </a:pPr>
            <a:r>
              <a:rPr dirty="0" sz="800">
                <a:solidFill>
                  <a:srgbClr val="0E0E0E"/>
                </a:solidFill>
                <a:latin typeface="Arial MT"/>
                <a:cs typeface="Arial MT"/>
              </a:rPr>
              <a:t>and</a:t>
            </a:r>
            <a:r>
              <a:rPr dirty="0" sz="800" spc="11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E0E0E"/>
                </a:solidFill>
                <a:latin typeface="Arial MT"/>
                <a:cs typeface="Arial MT"/>
              </a:rPr>
              <a:t>checks</a:t>
            </a:r>
            <a:r>
              <a:rPr dirty="0" sz="800" spc="15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E0E0E"/>
                </a:solidFill>
                <a:latin typeface="Arial MT"/>
                <a:cs typeface="Arial MT"/>
              </a:rPr>
              <a:t>proximity</a:t>
            </a:r>
            <a:r>
              <a:rPr dirty="0" sz="800" spc="28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F0F0F"/>
                </a:solidFill>
                <a:latin typeface="Arial MT"/>
                <a:cs typeface="Arial MT"/>
              </a:rPr>
              <a:t>to</a:t>
            </a:r>
            <a:r>
              <a:rPr dirty="0" sz="800" spc="14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00" spc="-20">
                <a:solidFill>
                  <a:srgbClr val="0E0E0E"/>
                </a:solidFill>
                <a:latin typeface="Arial MT"/>
                <a:cs typeface="Arial MT"/>
              </a:rPr>
              <a:t>path</a:t>
            </a:r>
            <a:endParaRPr sz="800">
              <a:latin typeface="Arial MT"/>
              <a:cs typeface="Arial MT"/>
            </a:endParaRPr>
          </a:p>
          <a:p>
            <a:pPr marL="41275">
              <a:lnSpc>
                <a:spcPct val="100000"/>
              </a:lnSpc>
              <a:spcBef>
                <a:spcPts val="190"/>
              </a:spcBef>
            </a:pPr>
            <a:r>
              <a:rPr dirty="0" sz="600" spc="110">
                <a:solidFill>
                  <a:srgbClr val="0F0F0F"/>
                </a:solidFill>
                <a:latin typeface="Arial MT"/>
                <a:cs typeface="Arial MT"/>
              </a:rPr>
              <a:t>S</a:t>
            </a:r>
            <a:r>
              <a:rPr dirty="0" sz="450" spc="110">
                <a:solidFill>
                  <a:srgbClr val="0F0F0F"/>
                </a:solidFill>
                <a:latin typeface="Arial MT"/>
                <a:cs typeface="Arial MT"/>
              </a:rPr>
              <a:t>h</a:t>
            </a:r>
            <a:r>
              <a:rPr dirty="0" baseline="-13888" sz="1200" spc="165">
                <a:solidFill>
                  <a:srgbClr val="0F0F0F"/>
                </a:solidFill>
                <a:latin typeface="Arial MT"/>
                <a:cs typeface="Arial MT"/>
              </a:rPr>
              <a:t>e</a:t>
            </a:r>
            <a:r>
              <a:rPr dirty="0" baseline="-13888" sz="1200" spc="165">
                <a:solidFill>
                  <a:srgbClr val="0C0C0C"/>
                </a:solidFill>
                <a:latin typeface="Arial MT"/>
                <a:cs typeface="Arial MT"/>
              </a:rPr>
              <a:t>+</a:t>
            </a:r>
            <a:r>
              <a:rPr dirty="0" sz="450" spc="110">
                <a:solidFill>
                  <a:srgbClr val="0C0C0C"/>
                </a:solidFill>
                <a:latin typeface="Arial MT"/>
                <a:cs typeface="Arial MT"/>
              </a:rPr>
              <a:t>e</a:t>
            </a:r>
            <a:r>
              <a:rPr dirty="0" baseline="-24691" sz="675" spc="165">
                <a:solidFill>
                  <a:srgbClr val="0C0C0C"/>
                </a:solidFill>
                <a:latin typeface="Arial MT"/>
                <a:cs typeface="Arial MT"/>
              </a:rPr>
              <a:t>’</a:t>
            </a:r>
            <a:r>
              <a:rPr dirty="0" baseline="-18518" sz="900" spc="165">
                <a:solidFill>
                  <a:srgbClr val="0C0C0C"/>
                </a:solidFill>
                <a:latin typeface="Arial MT"/>
                <a:cs typeface="Arial MT"/>
              </a:rPr>
              <a:t>l</a:t>
            </a:r>
            <a:r>
              <a:rPr dirty="0" sz="650" spc="110">
                <a:solidFill>
                  <a:srgbClr val="0C0C0C"/>
                </a:solidFill>
                <a:latin typeface="Arial MT"/>
                <a:cs typeface="Arial MT"/>
              </a:rPr>
              <a:t>t</a:t>
            </a:r>
            <a:r>
              <a:rPr dirty="0" sz="600" spc="110">
                <a:solidFill>
                  <a:srgbClr val="0C0C0C"/>
                </a:solidFill>
                <a:latin typeface="Arial MT"/>
                <a:cs typeface="Arial MT"/>
              </a:rPr>
              <a:t>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6058761" y="2386329"/>
            <a:ext cx="1583055" cy="89408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algn="just" marL="13970" marR="53975" indent="-1270">
              <a:lnSpc>
                <a:spcPct val="130600"/>
              </a:lnSpc>
              <a:spcBef>
                <a:spcPts val="85"/>
              </a:spcBef>
            </a:pPr>
            <a:r>
              <a:rPr dirty="0" sz="850" spc="10">
                <a:solidFill>
                  <a:srgbClr val="0F0F0F"/>
                </a:solidFill>
                <a:latin typeface="Arial MT"/>
                <a:cs typeface="Arial MT"/>
              </a:rPr>
              <a:t>EraserPath</a:t>
            </a:r>
            <a:r>
              <a:rPr dirty="0" sz="850" spc="12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10">
                <a:solidFill>
                  <a:srgbClr val="0F0F0F"/>
                </a:solidFill>
                <a:latin typeface="Arial MT"/>
                <a:cs typeface="Arial MT"/>
              </a:rPr>
              <a:t>simulates</a:t>
            </a:r>
            <a:r>
              <a:rPr dirty="0" sz="850" spc="9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F0F0F"/>
                </a:solidFill>
                <a:latin typeface="Arial MT"/>
                <a:cs typeface="Arial MT"/>
              </a:rPr>
              <a:t>erasing </a:t>
            </a:r>
            <a:r>
              <a:rPr dirty="0" sz="850" spc="10">
                <a:solidFill>
                  <a:srgbClr val="050A23"/>
                </a:solidFill>
                <a:latin typeface="Arial MT"/>
                <a:cs typeface="Arial MT"/>
              </a:rPr>
              <a:t>by</a:t>
            </a:r>
            <a:r>
              <a:rPr dirty="0" sz="850" spc="-10">
                <a:solidFill>
                  <a:srgbClr val="050A23"/>
                </a:solidFill>
                <a:latin typeface="Arial MT"/>
                <a:cs typeface="Arial MT"/>
              </a:rPr>
              <a:t> </a:t>
            </a:r>
            <a:r>
              <a:rPr dirty="0" sz="850" spc="10">
                <a:solidFill>
                  <a:srgbClr val="0F0F0F"/>
                </a:solidFill>
                <a:latin typeface="Arial MT"/>
                <a:cs typeface="Arial MT"/>
              </a:rPr>
              <a:t>drawing</a:t>
            </a:r>
            <a:r>
              <a:rPr dirty="0" sz="850" spc="1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10">
                <a:solidFill>
                  <a:srgbClr val="111111"/>
                </a:solidFill>
                <a:latin typeface="Arial MT"/>
                <a:cs typeface="Arial MT"/>
              </a:rPr>
              <a:t>in</a:t>
            </a:r>
            <a:r>
              <a:rPr dirty="0" sz="850" spc="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50" spc="10">
                <a:solidFill>
                  <a:srgbClr val="4D4F64"/>
                </a:solidFill>
                <a:latin typeface="Arial MT"/>
                <a:cs typeface="Arial MT"/>
              </a:rPr>
              <a:t>the</a:t>
            </a:r>
            <a:r>
              <a:rPr dirty="0" sz="850" spc="50">
                <a:solidFill>
                  <a:srgbClr val="4D4F64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E0E0E"/>
                </a:solidFill>
                <a:latin typeface="Arial MT"/>
                <a:cs typeface="Arial MT"/>
              </a:rPr>
              <a:t>background </a:t>
            </a:r>
            <a:r>
              <a:rPr dirty="0" sz="850" spc="-10">
                <a:solidFill>
                  <a:srgbClr val="111111"/>
                </a:solidFill>
                <a:latin typeface="Arial MT"/>
                <a:cs typeface="Arial MT"/>
              </a:rPr>
              <a:t>color.</a:t>
            </a:r>
            <a:endParaRPr sz="850">
              <a:latin typeface="Arial MT"/>
              <a:cs typeface="Arial MT"/>
            </a:endParaRPr>
          </a:p>
          <a:p>
            <a:pPr algn="just" marL="17145" marR="5080" indent="-3175">
              <a:lnSpc>
                <a:spcPct val="110600"/>
              </a:lnSpc>
              <a:spcBef>
                <a:spcPts val="600"/>
              </a:spcBef>
            </a:pPr>
            <a:r>
              <a:rPr dirty="0" sz="850">
                <a:solidFill>
                  <a:srgbClr val="111111"/>
                </a:solidFill>
                <a:latin typeface="Arial MT"/>
                <a:cs typeface="Arial MT"/>
              </a:rPr>
              <a:t>It</a:t>
            </a:r>
            <a:r>
              <a:rPr dirty="0" sz="850" spc="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C0C0C"/>
                </a:solidFill>
                <a:latin typeface="Arial MT"/>
                <a:cs typeface="Arial MT"/>
              </a:rPr>
              <a:t>extends</a:t>
            </a:r>
            <a:r>
              <a:rPr dirty="0" sz="850" spc="6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E0E0E"/>
                </a:solidFill>
                <a:latin typeface="Arial MT"/>
                <a:cs typeface="Arial MT"/>
              </a:rPr>
              <a:t>StylusPath 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functionality</a:t>
            </a:r>
            <a:r>
              <a:rPr dirty="0" sz="850" spc="13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C0C0C"/>
                </a:solidFill>
                <a:latin typeface="Arial MT"/>
                <a:cs typeface="Arial MT"/>
              </a:rPr>
              <a:t>for</a:t>
            </a:r>
            <a:r>
              <a:rPr dirty="0" sz="850" spc="6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C0C0C"/>
                </a:solidFill>
                <a:latin typeface="Arial MT"/>
                <a:cs typeface="Arial MT"/>
              </a:rPr>
              <a:t>erasing</a:t>
            </a:r>
            <a:r>
              <a:rPr dirty="0" sz="850" spc="9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E0E0E"/>
                </a:solidFill>
                <a:latin typeface="Arial MT"/>
                <a:cs typeface="Arial MT"/>
              </a:rPr>
              <a:t>shapes.</a:t>
            </a:r>
            <a:endParaRPr sz="8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2857" y="286511"/>
            <a:ext cx="5205333" cy="412699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4643" y="1809495"/>
            <a:ext cx="1532255" cy="876935"/>
          </a:xfrm>
          <a:prstGeom prst="rect"/>
        </p:spPr>
        <p:txBody>
          <a:bodyPr wrap="square" lIns="0" tIns="35560" rIns="0" bIns="0" rtlCol="0" vert="horz">
            <a:spAutoFit/>
          </a:bodyPr>
          <a:lstStyle/>
          <a:p>
            <a:pPr marL="12700" marR="5080" indent="3810">
              <a:lnSpc>
                <a:spcPct val="92100"/>
              </a:lnSpc>
              <a:spcBef>
                <a:spcPts val="280"/>
              </a:spcBef>
            </a:pPr>
            <a:r>
              <a:rPr dirty="0" sz="1900" spc="-10">
                <a:solidFill>
                  <a:srgbClr val="262F6B"/>
                </a:solidFill>
              </a:rPr>
              <a:t>Eraser </a:t>
            </a:r>
            <a:r>
              <a:rPr dirty="0" sz="1950" spc="-114">
                <a:solidFill>
                  <a:srgbClr val="2B316B"/>
                </a:solidFill>
              </a:rPr>
              <a:t>Implementation </a:t>
            </a:r>
            <a:r>
              <a:rPr dirty="0" sz="2050" spc="-204">
                <a:solidFill>
                  <a:srgbClr val="2D2F6D"/>
                </a:solidFill>
              </a:rPr>
              <a:t>Deep</a:t>
            </a:r>
            <a:r>
              <a:rPr dirty="0" sz="2050" spc="-229">
                <a:solidFill>
                  <a:srgbClr val="2D2F6D"/>
                </a:solidFill>
              </a:rPr>
              <a:t> </a:t>
            </a:r>
            <a:r>
              <a:rPr dirty="0" sz="2050" spc="-20">
                <a:solidFill>
                  <a:srgbClr val="282F67"/>
                </a:solidFill>
              </a:rPr>
              <a:t>Dive</a:t>
            </a:r>
            <a:endParaRPr sz="20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2857" y="1219200"/>
            <a:ext cx="2642285" cy="264261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6607237" y="4200144"/>
            <a:ext cx="1350645" cy="216535"/>
          </a:xfrm>
          <a:prstGeom prst="rect">
            <a:avLst/>
          </a:prstGeom>
          <a:solidFill>
            <a:srgbClr val="000000"/>
          </a:solidFill>
        </p:spPr>
        <p:txBody>
          <a:bodyPr wrap="square" lIns="0" tIns="45085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355"/>
              </a:spcBef>
              <a:tabLst>
                <a:tab pos="671195" algn="l"/>
              </a:tabLst>
            </a:pPr>
            <a:r>
              <a:rPr dirty="0" sz="650" spc="-10">
                <a:solidFill>
                  <a:srgbClr val="FFFFFF"/>
                </a:solidFill>
                <a:latin typeface="Courier New"/>
                <a:cs typeface="Courier New"/>
                <a:hlinkClick r:id="rId3"/>
              </a:rPr>
              <a:t>’œn'eó'1°nç</a:t>
            </a:r>
            <a:r>
              <a:rPr dirty="0" sz="650">
                <a:solidFill>
                  <a:srgbClr val="FFFFFF"/>
                </a:solidFill>
                <a:latin typeface="Courier New"/>
                <a:cs typeface="Courier New"/>
                <a:hlinkClick r:id="rId3"/>
              </a:rPr>
              <a:t>	</a:t>
            </a:r>
            <a:r>
              <a:rPr dirty="0" sz="650" spc="-25">
                <a:solidFill>
                  <a:srgbClr val="FFFFFF"/>
                </a:solidFill>
                <a:latin typeface="Courier New"/>
                <a:cs typeface="Courier New"/>
                <a:hlinkClick r:id="rId3"/>
              </a:rPr>
              <a:t>preseutotions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 sz="1900" spc="-125">
                <a:solidFill>
                  <a:srgbClr val="2B2D62"/>
                </a:solidFill>
              </a:rPr>
              <a:t>Challenges</a:t>
            </a:r>
            <a:r>
              <a:rPr dirty="0" sz="1900" spc="-65">
                <a:solidFill>
                  <a:srgbClr val="2B2D62"/>
                </a:solidFill>
              </a:rPr>
              <a:t> </a:t>
            </a:r>
            <a:r>
              <a:rPr dirty="0" sz="1900" spc="-210">
                <a:solidFill>
                  <a:srgbClr val="282B69"/>
                </a:solidFill>
              </a:rPr>
              <a:t>&amp;</a:t>
            </a:r>
            <a:r>
              <a:rPr dirty="0" sz="1900" spc="-229">
                <a:solidFill>
                  <a:srgbClr val="282B69"/>
                </a:solidFill>
              </a:rPr>
              <a:t> </a:t>
            </a:r>
            <a:r>
              <a:rPr dirty="0" sz="1900" spc="-110">
                <a:solidFill>
                  <a:srgbClr val="2A2D6D"/>
                </a:solidFill>
              </a:rPr>
              <a:t>Learning</a:t>
            </a:r>
            <a:endParaRPr sz="1900"/>
          </a:p>
        </p:txBody>
      </p:sp>
      <p:sp>
        <p:nvSpPr>
          <p:cNvPr id="5" name="object 5" descr=""/>
          <p:cNvSpPr txBox="1"/>
          <p:nvPr/>
        </p:nvSpPr>
        <p:spPr>
          <a:xfrm>
            <a:off x="431399" y="1115314"/>
            <a:ext cx="2154555" cy="827405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algn="r" marR="10160">
              <a:lnSpc>
                <a:spcPct val="100000"/>
              </a:lnSpc>
              <a:spcBef>
                <a:spcPts val="540"/>
              </a:spcBef>
            </a:pPr>
            <a:r>
              <a:rPr dirty="0" sz="850" spc="20">
                <a:solidFill>
                  <a:srgbClr val="111111"/>
                </a:solidFill>
                <a:latin typeface="Arial MT"/>
                <a:cs typeface="Arial MT"/>
              </a:rPr>
              <a:t>Geometric</a:t>
            </a:r>
            <a:r>
              <a:rPr dirty="0" sz="850" spc="16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50" spc="10">
                <a:solidFill>
                  <a:srgbClr val="111111"/>
                </a:solidFill>
                <a:latin typeface="Arial MT"/>
                <a:cs typeface="Arial MT"/>
              </a:rPr>
              <a:t>Hit-</a:t>
            </a:r>
            <a:r>
              <a:rPr dirty="0" sz="850" spc="-10">
                <a:solidFill>
                  <a:srgbClr val="111111"/>
                </a:solidFill>
                <a:latin typeface="Arial MT"/>
                <a:cs typeface="Arial MT"/>
              </a:rPr>
              <a:t>Testing</a:t>
            </a:r>
            <a:endParaRPr sz="850">
              <a:latin typeface="Arial MT"/>
              <a:cs typeface="Arial MT"/>
            </a:endParaRPr>
          </a:p>
          <a:p>
            <a:pPr algn="r" marL="12700" marR="5080" indent="74295">
              <a:lnSpc>
                <a:spcPct val="110600"/>
              </a:lnSpc>
              <a:spcBef>
                <a:spcPts val="340"/>
              </a:spcBef>
            </a:pPr>
            <a:r>
              <a:rPr dirty="0" sz="850">
                <a:solidFill>
                  <a:srgbClr val="0E0E0E"/>
                </a:solidFill>
                <a:latin typeface="Arial MT"/>
                <a:cs typeface="Arial MT"/>
              </a:rPr>
              <a:t>Precisely</a:t>
            </a:r>
            <a:r>
              <a:rPr dirty="0" sz="850" spc="9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detecting</a:t>
            </a:r>
            <a:r>
              <a:rPr dirty="0" sz="850" spc="8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E0E0E"/>
                </a:solidFill>
                <a:latin typeface="Arial MT"/>
                <a:cs typeface="Arial MT"/>
              </a:rPr>
              <a:t>clicks/erasure</a:t>
            </a:r>
            <a:r>
              <a:rPr dirty="0" sz="850" spc="-1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11111"/>
                </a:solidFill>
                <a:latin typeface="Arial MT"/>
                <a:cs typeface="Arial MT"/>
              </a:rPr>
              <a:t>on</a:t>
            </a:r>
            <a:r>
              <a:rPr dirty="0" sz="850" spc="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A0A0A"/>
                </a:solidFill>
                <a:latin typeface="Arial MT"/>
                <a:cs typeface="Arial MT"/>
              </a:rPr>
              <a:t>lines 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and</a:t>
            </a:r>
            <a:r>
              <a:rPr dirty="0" sz="850" spc="-6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C0C0C"/>
                </a:solidFill>
                <a:latin typeface="Arial MT"/>
                <a:cs typeface="Arial MT"/>
              </a:rPr>
              <a:t>irregular</a:t>
            </a:r>
            <a:r>
              <a:rPr dirty="0" sz="850" spc="7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shapes</a:t>
            </a:r>
            <a:r>
              <a:rPr dirty="0" sz="850" spc="2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C0C0C"/>
                </a:solidFill>
                <a:latin typeface="Arial MT"/>
                <a:cs typeface="Arial MT"/>
              </a:rPr>
              <a:t>(StylusPath)</a:t>
            </a:r>
            <a:r>
              <a:rPr dirty="0" sz="850" spc="10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E0E0E"/>
                </a:solidFill>
                <a:latin typeface="Arial MT"/>
                <a:cs typeface="Arial MT"/>
              </a:rPr>
              <a:t>was 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a</a:t>
            </a:r>
            <a:r>
              <a:rPr dirty="0" sz="850" spc="-6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0F0F0F"/>
                </a:solidFill>
                <a:latin typeface="Arial MT"/>
                <a:cs typeface="Arial MT"/>
              </a:rPr>
              <a:t>key </a:t>
            </a:r>
            <a:r>
              <a:rPr dirty="0" sz="850" spc="-10">
                <a:solidFill>
                  <a:srgbClr val="0F0F0F"/>
                </a:solidFill>
                <a:latin typeface="Arial MT"/>
                <a:cs typeface="Arial MT"/>
              </a:rPr>
              <a:t>challenge.</a:t>
            </a:r>
            <a:r>
              <a:rPr dirty="0" sz="850" spc="-1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E0E0E"/>
                </a:solidFill>
                <a:latin typeface="Arial MT"/>
                <a:cs typeface="Arial MT"/>
              </a:rPr>
              <a:t>Leveraging</a:t>
            </a:r>
            <a:r>
              <a:rPr dirty="0" sz="850" spc="5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C0C0C"/>
                </a:solidFill>
                <a:latin typeface="Arial MT"/>
                <a:cs typeface="Arial MT"/>
              </a:rPr>
              <a:t>Line2D.ptSegDist</a:t>
            </a:r>
            <a:r>
              <a:rPr dirty="0" sz="850" spc="50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from </a:t>
            </a:r>
            <a:r>
              <a:rPr dirty="0" sz="850" spc="-10">
                <a:solidFill>
                  <a:srgbClr val="0F0F0F"/>
                </a:solidFill>
                <a:latin typeface="Arial MT"/>
                <a:cs typeface="Arial MT"/>
              </a:rPr>
              <a:t>Java</a:t>
            </a:r>
            <a:r>
              <a:rPr dirty="0" sz="850" spc="1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C0C0C"/>
                </a:solidFill>
                <a:latin typeface="Arial MT"/>
                <a:cs typeface="Arial MT"/>
              </a:rPr>
              <a:t>AWT</a:t>
            </a:r>
            <a:r>
              <a:rPr dirty="0" sz="850" spc="1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C0C0C"/>
                </a:solidFill>
                <a:latin typeface="Arial MT"/>
                <a:cs typeface="Arial MT"/>
              </a:rPr>
              <a:t>proved</a:t>
            </a:r>
            <a:r>
              <a:rPr dirty="0" sz="850" spc="-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E0E0E"/>
                </a:solidFill>
                <a:latin typeface="Arial MT"/>
                <a:cs typeface="Arial MT"/>
              </a:rPr>
              <a:t>crucial</a:t>
            </a:r>
            <a:r>
              <a:rPr dirty="0" sz="850" spc="4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for</a:t>
            </a:r>
            <a:r>
              <a:rPr dirty="0" sz="850" spc="3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C0C0C"/>
                </a:solidFill>
                <a:latin typeface="Arial MT"/>
                <a:cs typeface="Arial MT"/>
              </a:rPr>
              <a:t>accuracy.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98376" y="2489961"/>
            <a:ext cx="2092325" cy="683895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algn="r" marR="18415">
              <a:lnSpc>
                <a:spcPct val="100000"/>
              </a:lnSpc>
              <a:spcBef>
                <a:spcPts val="540"/>
              </a:spcBef>
            </a:pPr>
            <a:r>
              <a:rPr dirty="0" sz="850" spc="-10">
                <a:solidFill>
                  <a:srgbClr val="0E0E0E"/>
                </a:solidFill>
                <a:latin typeface="Arial MT"/>
                <a:cs typeface="Arial MT"/>
              </a:rPr>
              <a:t>Refactoring</a:t>
            </a:r>
            <a:endParaRPr sz="850">
              <a:latin typeface="Arial MT"/>
              <a:cs typeface="Arial MT"/>
            </a:endParaRPr>
          </a:p>
          <a:p>
            <a:pPr algn="r" marL="155575" marR="15240" indent="-143510">
              <a:lnSpc>
                <a:spcPct val="108200"/>
              </a:lnSpc>
              <a:spcBef>
                <a:spcPts val="365"/>
              </a:spcBef>
            </a:pPr>
            <a:r>
              <a:rPr dirty="0" sz="850">
                <a:solidFill>
                  <a:srgbClr val="0E0E0E"/>
                </a:solidFill>
                <a:latin typeface="Arial MT"/>
                <a:cs typeface="Arial MT"/>
              </a:rPr>
              <a:t>Identifying</a:t>
            </a:r>
            <a:r>
              <a:rPr dirty="0" sz="850" spc="5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E0E0E"/>
                </a:solidFill>
                <a:latin typeface="Arial MT"/>
                <a:cs typeface="Arial MT"/>
              </a:rPr>
              <a:t>and </a:t>
            </a:r>
            <a:r>
              <a:rPr dirty="0" sz="850">
                <a:solidFill>
                  <a:srgbClr val="0C0C0C"/>
                </a:solidFill>
                <a:latin typeface="Arial MT"/>
                <a:cs typeface="Arial MT"/>
              </a:rPr>
              <a:t>extracting</a:t>
            </a:r>
            <a:r>
              <a:rPr dirty="0" sz="850" spc="6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C0C0C"/>
                </a:solidFill>
                <a:latin typeface="Arial MT"/>
                <a:cs typeface="Arial MT"/>
              </a:rPr>
              <a:t>'magic</a:t>
            </a:r>
            <a:r>
              <a:rPr dirty="0" sz="850" spc="2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E0E0E"/>
                </a:solidFill>
                <a:latin typeface="Arial MT"/>
                <a:cs typeface="Arial MT"/>
              </a:rPr>
              <a:t>numbers' 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into</a:t>
            </a:r>
            <a:r>
              <a:rPr dirty="0" sz="850" spc="-1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C0C0C"/>
                </a:solidFill>
                <a:latin typeface="Arial MT"/>
                <a:cs typeface="Arial MT"/>
              </a:rPr>
              <a:t>constants</a:t>
            </a:r>
            <a:r>
              <a:rPr dirty="0" sz="850" spc="5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E0E0E"/>
                </a:solidFill>
                <a:latin typeface="Arial MT"/>
                <a:cs typeface="Arial MT"/>
              </a:rPr>
              <a:t>improved</a:t>
            </a:r>
            <a:r>
              <a:rPr dirty="0" sz="850" spc="6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C0C0C"/>
                </a:solidFill>
                <a:latin typeface="Arial MT"/>
                <a:cs typeface="Arial MT"/>
              </a:rPr>
              <a:t>readability</a:t>
            </a:r>
            <a:r>
              <a:rPr dirty="0" sz="850" spc="9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0F0F0F"/>
                </a:solidFill>
                <a:latin typeface="Arial MT"/>
                <a:cs typeface="Arial MT"/>
              </a:rPr>
              <a:t>and</a:t>
            </a:r>
            <a:endParaRPr sz="85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130"/>
              </a:spcBef>
            </a:pPr>
            <a:r>
              <a:rPr dirty="0" sz="850" spc="-10">
                <a:solidFill>
                  <a:srgbClr val="0E0E0E"/>
                </a:solidFill>
                <a:latin typeface="Arial MT"/>
                <a:cs typeface="Arial MT"/>
              </a:rPr>
              <a:t>maintainability.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534642" y="1821195"/>
            <a:ext cx="2054225" cy="706755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 sz="950" spc="-25">
                <a:solidFill>
                  <a:srgbClr val="111111"/>
                </a:solidFill>
                <a:latin typeface="Arial MT"/>
                <a:cs typeface="Arial MT"/>
              </a:rPr>
              <a:t>Swing</a:t>
            </a:r>
            <a:r>
              <a:rPr dirty="0" sz="950" spc="-8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950" spc="-40">
                <a:solidFill>
                  <a:srgbClr val="111111"/>
                </a:solidFill>
                <a:latin typeface="Arial MT"/>
                <a:cs typeface="Arial MT"/>
              </a:rPr>
              <a:t>Event</a:t>
            </a:r>
            <a:r>
              <a:rPr dirty="0" sz="950" spc="-3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0F0F0F"/>
                </a:solidFill>
                <a:latin typeface="Arial MT"/>
                <a:cs typeface="Arial MT"/>
              </a:rPr>
              <a:t>Handling</a:t>
            </a:r>
            <a:endParaRPr sz="950">
              <a:latin typeface="Arial MT"/>
              <a:cs typeface="Arial MT"/>
            </a:endParaRPr>
          </a:p>
          <a:p>
            <a:pPr marL="13970" marR="5080" indent="1905">
              <a:lnSpc>
                <a:spcPct val="112900"/>
              </a:lnSpc>
              <a:spcBef>
                <a:spcPts val="295"/>
              </a:spcBef>
            </a:pPr>
            <a:r>
              <a:rPr dirty="0" sz="850" spc="-10">
                <a:solidFill>
                  <a:srgbClr val="0F0F0F"/>
                </a:solidFill>
                <a:latin typeface="Arial MT"/>
                <a:cs typeface="Arial MT"/>
              </a:rPr>
              <a:t>Managing</a:t>
            </a:r>
            <a:r>
              <a:rPr dirty="0" sz="850" spc="7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different</a:t>
            </a:r>
            <a:r>
              <a:rPr dirty="0" sz="850" spc="8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tool</a:t>
            </a:r>
            <a:r>
              <a:rPr dirty="0" sz="850" spc="2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states</a:t>
            </a:r>
            <a:r>
              <a:rPr dirty="0" sz="850" spc="3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E0E0E"/>
                </a:solidFill>
                <a:latin typeface="Arial MT"/>
                <a:cs typeface="Arial MT"/>
              </a:rPr>
              <a:t>and</a:t>
            </a:r>
            <a:r>
              <a:rPr dirty="0" sz="850" spc="2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F0F0F"/>
                </a:solidFill>
                <a:latin typeface="Arial MT"/>
                <a:cs typeface="Arial MT"/>
              </a:rPr>
              <a:t>mouse </a:t>
            </a:r>
            <a:r>
              <a:rPr dirty="0" sz="850">
                <a:solidFill>
                  <a:srgbClr val="0C0C0C"/>
                </a:solidFill>
                <a:latin typeface="Arial MT"/>
                <a:cs typeface="Arial MT"/>
              </a:rPr>
              <a:t>interactions</a:t>
            </a:r>
            <a:r>
              <a:rPr dirty="0" sz="850" spc="12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C0C0C"/>
                </a:solidFill>
                <a:latin typeface="Arial MT"/>
                <a:cs typeface="Arial MT"/>
              </a:rPr>
              <a:t>(single-click,</a:t>
            </a:r>
            <a:r>
              <a:rPr dirty="0" sz="850" spc="-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C0C0C"/>
                </a:solidFill>
                <a:latin typeface="Arial MT"/>
                <a:cs typeface="Arial MT"/>
              </a:rPr>
              <a:t>drag,</a:t>
            </a:r>
            <a:r>
              <a:rPr dirty="0" sz="850" spc="5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C0C0C"/>
                </a:solidFill>
                <a:latin typeface="Arial MT"/>
                <a:cs typeface="Arial MT"/>
              </a:rPr>
              <a:t>two-</a:t>
            </a:r>
            <a:r>
              <a:rPr dirty="0" sz="850" spc="-10">
                <a:solidFill>
                  <a:srgbClr val="0C0C0C"/>
                </a:solidFill>
                <a:latin typeface="Arial MT"/>
                <a:cs typeface="Arial MT"/>
              </a:rPr>
              <a:t>click 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line)</a:t>
            </a:r>
            <a:r>
              <a:rPr dirty="0" sz="850" spc="-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E0E0E"/>
                </a:solidFill>
                <a:latin typeface="Arial MT"/>
                <a:cs typeface="Arial MT"/>
              </a:rPr>
              <a:t>required</a:t>
            </a:r>
            <a:r>
              <a:rPr dirty="0" sz="850" spc="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11111"/>
                </a:solidFill>
                <a:latin typeface="Arial MT"/>
                <a:cs typeface="Arial MT"/>
              </a:rPr>
              <a:t>careful</a:t>
            </a:r>
            <a:r>
              <a:rPr dirty="0" sz="85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event</a:t>
            </a:r>
            <a:r>
              <a:rPr dirty="0" sz="850" spc="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F0F0F"/>
                </a:solidFill>
                <a:latin typeface="Arial MT"/>
                <a:cs typeface="Arial MT"/>
              </a:rPr>
              <a:t>management.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534624" y="3142233"/>
            <a:ext cx="2189480" cy="687070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540"/>
              </a:spcBef>
            </a:pPr>
            <a:r>
              <a:rPr dirty="0" sz="850">
                <a:solidFill>
                  <a:srgbClr val="080828"/>
                </a:solidFill>
                <a:latin typeface="Arial MT"/>
                <a:cs typeface="Arial MT"/>
              </a:rPr>
              <a:t>UI</a:t>
            </a:r>
            <a:r>
              <a:rPr dirty="0" sz="850" spc="-70">
                <a:solidFill>
                  <a:srgbClr val="080828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F0F0F"/>
                </a:solidFill>
                <a:latin typeface="Arial MT"/>
                <a:cs typeface="Arial MT"/>
              </a:rPr>
              <a:t>Responsiveness</a:t>
            </a:r>
            <a:endParaRPr sz="850">
              <a:latin typeface="Arial MT"/>
              <a:cs typeface="Arial MT"/>
            </a:endParaRPr>
          </a:p>
          <a:p>
            <a:pPr algn="just" marL="17145" marR="5080" indent="-1905">
              <a:lnSpc>
                <a:spcPct val="111800"/>
              </a:lnSpc>
              <a:spcBef>
                <a:spcPts val="325"/>
              </a:spcBef>
            </a:pPr>
            <a:r>
              <a:rPr dirty="0" sz="850">
                <a:solidFill>
                  <a:srgbClr val="0C0C0C"/>
                </a:solidFill>
                <a:latin typeface="Arial MT"/>
                <a:cs typeface="Arial MT"/>
              </a:rPr>
              <a:t>Ensuring</a:t>
            </a:r>
            <a:r>
              <a:rPr dirty="0" sz="850" spc="6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the</a:t>
            </a:r>
            <a:r>
              <a:rPr dirty="0" sz="850" spc="-2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C0C0C"/>
                </a:solidFill>
                <a:latin typeface="Arial MT"/>
                <a:cs typeface="Arial MT"/>
              </a:rPr>
              <a:t>application </a:t>
            </a:r>
            <a:r>
              <a:rPr dirty="0" sz="850">
                <a:solidFill>
                  <a:srgbClr val="0E0E0E"/>
                </a:solidFill>
                <a:latin typeface="Arial MT"/>
                <a:cs typeface="Arial MT"/>
              </a:rPr>
              <a:t>remains</a:t>
            </a:r>
            <a:r>
              <a:rPr dirty="0" sz="850" spc="1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E0E0E"/>
                </a:solidFill>
                <a:latin typeface="Arial MT"/>
                <a:cs typeface="Arial MT"/>
              </a:rPr>
              <a:t>fluid</a:t>
            </a:r>
            <a:r>
              <a:rPr dirty="0" sz="850" spc="-1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F0F0F"/>
                </a:solidFill>
                <a:latin typeface="Arial MT"/>
                <a:cs typeface="Arial MT"/>
              </a:rPr>
              <a:t>during </a:t>
            </a:r>
            <a:r>
              <a:rPr dirty="0" sz="850">
                <a:solidFill>
                  <a:srgbClr val="0E0E0E"/>
                </a:solidFill>
                <a:latin typeface="Arial MT"/>
                <a:cs typeface="Arial MT"/>
              </a:rPr>
              <a:t>drawing</a:t>
            </a:r>
            <a:r>
              <a:rPr dirty="0" sz="850" spc="-1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and</a:t>
            </a:r>
            <a:r>
              <a:rPr dirty="0" sz="850" spc="-4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A0A0A"/>
                </a:solidFill>
                <a:latin typeface="Arial MT"/>
                <a:cs typeface="Arial MT"/>
              </a:rPr>
              <a:t>dragging</a:t>
            </a:r>
            <a:r>
              <a:rPr dirty="0" sz="850" spc="-2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E0E0E"/>
                </a:solidFill>
                <a:latin typeface="Arial MT"/>
                <a:cs typeface="Arial MT"/>
              </a:rPr>
              <a:t>operations, </a:t>
            </a:r>
            <a:r>
              <a:rPr dirty="0" sz="850" spc="-10">
                <a:solidFill>
                  <a:srgbClr val="0C0C0C"/>
                </a:solidFill>
                <a:latin typeface="Arial MT"/>
                <a:cs typeface="Arial MT"/>
              </a:rPr>
              <a:t>especially 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with</a:t>
            </a:r>
            <a:r>
              <a:rPr dirty="0" sz="850" spc="-3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C0C0C"/>
                </a:solidFill>
                <a:latin typeface="Arial MT"/>
                <a:cs typeface="Arial MT"/>
              </a:rPr>
              <a:t>many</a:t>
            </a:r>
            <a:r>
              <a:rPr dirty="0" sz="850" spc="-1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E0E0E"/>
                </a:solidFill>
                <a:latin typeface="Arial MT"/>
                <a:cs typeface="Arial MT"/>
              </a:rPr>
              <a:t>shapes.</a:t>
            </a:r>
            <a:endParaRPr sz="8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3618" y="1453896"/>
            <a:ext cx="2166857" cy="2167127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6613333" y="4194047"/>
            <a:ext cx="1350645" cy="210820"/>
          </a:xfrm>
          <a:prstGeom prst="rect">
            <a:avLst/>
          </a:prstGeom>
          <a:solidFill>
            <a:srgbClr val="000000"/>
          </a:solidFill>
        </p:spPr>
        <p:txBody>
          <a:bodyPr wrap="square" lIns="0" tIns="41910" rIns="0" bIns="0" rtlCol="0" vert="horz">
            <a:spAutoFit/>
          </a:bodyPr>
          <a:lstStyle/>
          <a:p>
            <a:pPr marL="48260">
              <a:lnSpc>
                <a:spcPct val="100000"/>
              </a:lnSpc>
              <a:spcBef>
                <a:spcPts val="330"/>
              </a:spcBef>
              <a:tabLst>
                <a:tab pos="671195" algn="l"/>
              </a:tabLst>
            </a:pPr>
            <a:r>
              <a:rPr dirty="0" sz="650" spc="-85">
                <a:solidFill>
                  <a:srgbClr val="FFFFFF"/>
                </a:solidFill>
                <a:latin typeface="Courier New"/>
                <a:cs typeface="Courier New"/>
                <a:hlinkClick r:id="rId3"/>
              </a:rPr>
              <a:t>^œn'ea</a:t>
            </a:r>
            <a:r>
              <a:rPr dirty="0" sz="650" spc="-65">
                <a:solidFill>
                  <a:srgbClr val="FFFFFF"/>
                </a:solidFill>
                <a:latin typeface="Courier New"/>
                <a:cs typeface="Courier New"/>
                <a:hlinkClick r:id="rId3"/>
              </a:rPr>
              <a:t> </a:t>
            </a:r>
            <a:r>
              <a:rPr dirty="0" sz="650" spc="-20">
                <a:solidFill>
                  <a:srgbClr val="FFFFFF"/>
                </a:solidFill>
                <a:latin typeface="Courier New"/>
                <a:cs typeface="Courier New"/>
                <a:hlinkClick r:id="rId3"/>
              </a:rPr>
              <a:t>1°nç</a:t>
            </a:r>
            <a:r>
              <a:rPr dirty="0" sz="650">
                <a:solidFill>
                  <a:srgbClr val="FFFFFF"/>
                </a:solidFill>
                <a:latin typeface="Courier New"/>
                <a:cs typeface="Courier New"/>
                <a:hlinkClick r:id="rId3"/>
              </a:rPr>
              <a:t>	</a:t>
            </a:r>
            <a:r>
              <a:rPr dirty="0" sz="650" spc="-25">
                <a:solidFill>
                  <a:srgbClr val="FFFFFF"/>
                </a:solidFill>
                <a:latin typeface="Courier New"/>
                <a:cs typeface="Courier New"/>
                <a:hlinkClick r:id="rId3"/>
              </a:rPr>
              <a:t>preseutotions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140">
                <a:solidFill>
                  <a:srgbClr val="2F2F67"/>
                </a:solidFill>
              </a:rPr>
              <a:t>Future</a:t>
            </a:r>
            <a:r>
              <a:rPr dirty="0" sz="1900" spc="-100">
                <a:solidFill>
                  <a:srgbClr val="2F2F67"/>
                </a:solidFill>
              </a:rPr>
              <a:t> </a:t>
            </a:r>
            <a:r>
              <a:rPr dirty="0" sz="1900" spc="-114">
                <a:solidFill>
                  <a:srgbClr val="2A2D6B"/>
                </a:solidFill>
              </a:rPr>
              <a:t>Enhancements</a:t>
            </a:r>
            <a:endParaRPr sz="1900"/>
          </a:p>
        </p:txBody>
      </p:sp>
      <p:sp>
        <p:nvSpPr>
          <p:cNvPr id="5" name="object 5" descr=""/>
          <p:cNvSpPr txBox="1"/>
          <p:nvPr/>
        </p:nvSpPr>
        <p:spPr>
          <a:xfrm>
            <a:off x="682346" y="1261109"/>
            <a:ext cx="2089150" cy="34861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algn="r" marR="5715">
              <a:lnSpc>
                <a:spcPct val="100000"/>
              </a:lnSpc>
              <a:spcBef>
                <a:spcPts val="229"/>
              </a:spcBef>
            </a:pPr>
            <a:r>
              <a:rPr dirty="0" sz="950">
                <a:solidFill>
                  <a:srgbClr val="0F0F0F"/>
                </a:solidFill>
                <a:latin typeface="Arial MT"/>
                <a:cs typeface="Arial MT"/>
              </a:rPr>
              <a:t>More</a:t>
            </a:r>
            <a:r>
              <a:rPr dirty="0" sz="950" spc="9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F0F0F"/>
                </a:solidFill>
                <a:latin typeface="Arial MT"/>
                <a:cs typeface="Arial MT"/>
              </a:rPr>
              <a:t>complex</a:t>
            </a:r>
            <a:r>
              <a:rPr dirty="0" sz="950" spc="15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E0E0E"/>
                </a:solidFill>
                <a:latin typeface="Arial MT"/>
                <a:cs typeface="Arial MT"/>
              </a:rPr>
              <a:t>shapes</a:t>
            </a:r>
            <a:r>
              <a:rPr dirty="0" sz="950" spc="17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0E0E0E"/>
                </a:solidFill>
                <a:latin typeface="Arial MT"/>
                <a:cs typeface="Arial MT"/>
              </a:rPr>
              <a:t>(e.g.,</a:t>
            </a:r>
            <a:r>
              <a:rPr dirty="0" sz="950" spc="10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0F0F0F"/>
                </a:solidFill>
                <a:latin typeface="Arial MT"/>
                <a:cs typeface="Arial MT"/>
              </a:rPr>
              <a:t>Triangle,</a:t>
            </a:r>
            <a:endParaRPr sz="95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135"/>
              </a:spcBef>
            </a:pPr>
            <a:r>
              <a:rPr dirty="0" sz="950">
                <a:solidFill>
                  <a:srgbClr val="0E0E0E"/>
                </a:solidFill>
                <a:latin typeface="Arial MT"/>
                <a:cs typeface="Arial MT"/>
              </a:rPr>
              <a:t>Polygon,</a:t>
            </a:r>
            <a:r>
              <a:rPr dirty="0" sz="950" spc="8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0C0C0C"/>
                </a:solidFill>
                <a:latin typeface="Arial MT"/>
                <a:cs typeface="Arial MT"/>
              </a:rPr>
              <a:t>Text).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89127" y="2432811"/>
            <a:ext cx="177863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0F0F0F"/>
                </a:solidFill>
                <a:latin typeface="Arial MT"/>
                <a:cs typeface="Arial MT"/>
              </a:rPr>
              <a:t>Resizing</a:t>
            </a:r>
            <a:r>
              <a:rPr dirty="0" sz="1000" spc="6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C0C0C"/>
                </a:solidFill>
                <a:latin typeface="Arial MT"/>
                <a:cs typeface="Arial MT"/>
              </a:rPr>
              <a:t>shapes</a:t>
            </a:r>
            <a:r>
              <a:rPr dirty="0" sz="1000" spc="1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E0E0E"/>
                </a:solidFill>
                <a:latin typeface="Arial MT"/>
                <a:cs typeface="Arial MT"/>
              </a:rPr>
              <a:t>after</a:t>
            </a:r>
            <a:r>
              <a:rPr dirty="0" sz="1000" spc="4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0F0F0F"/>
                </a:solidFill>
                <a:latin typeface="Arial MT"/>
                <a:cs typeface="Arial MT"/>
              </a:rPr>
              <a:t>creation.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87298" y="3431285"/>
            <a:ext cx="2283460" cy="34290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algn="r" marR="9525">
              <a:lnSpc>
                <a:spcPct val="100000"/>
              </a:lnSpc>
              <a:spcBef>
                <a:spcPts val="204"/>
              </a:spcBef>
            </a:pPr>
            <a:r>
              <a:rPr dirty="0" sz="950">
                <a:solidFill>
                  <a:srgbClr val="0E0E0E"/>
                </a:solidFill>
                <a:latin typeface="Arial MT"/>
                <a:cs typeface="Arial MT"/>
              </a:rPr>
              <a:t>More</a:t>
            </a:r>
            <a:r>
              <a:rPr dirty="0" sz="950" spc="15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F0F0F"/>
                </a:solidFill>
                <a:latin typeface="Arial MT"/>
                <a:cs typeface="Arial MT"/>
              </a:rPr>
              <a:t>advanced</a:t>
            </a:r>
            <a:r>
              <a:rPr dirty="0" sz="950" spc="15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F0F0F"/>
                </a:solidFill>
                <a:latin typeface="Arial MT"/>
                <a:cs typeface="Arial MT"/>
              </a:rPr>
              <a:t>selection</a:t>
            </a:r>
            <a:r>
              <a:rPr dirty="0" sz="950" spc="16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0E0E0E"/>
                </a:solidFill>
                <a:latin typeface="Arial MT"/>
                <a:cs typeface="Arial MT"/>
              </a:rPr>
              <a:t>(e.g.,</a:t>
            </a:r>
            <a:r>
              <a:rPr dirty="0" sz="950" spc="10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0C0C0C"/>
                </a:solidFill>
                <a:latin typeface="Arial MT"/>
                <a:cs typeface="Arial MT"/>
              </a:rPr>
              <a:t>marquee</a:t>
            </a:r>
            <a:endParaRPr sz="95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110"/>
              </a:spcBef>
            </a:pPr>
            <a:r>
              <a:rPr dirty="0" sz="950" spc="-10">
                <a:solidFill>
                  <a:srgbClr val="0F0F0F"/>
                </a:solidFill>
                <a:latin typeface="Arial MT"/>
                <a:cs typeface="Arial MT"/>
              </a:rPr>
              <a:t>select).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353817" y="1360170"/>
            <a:ext cx="143256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0E0E0E"/>
                </a:solidFill>
                <a:latin typeface="Arial MT"/>
                <a:cs typeface="Arial MT"/>
              </a:rPr>
              <a:t>Undo/Redo</a:t>
            </a:r>
            <a:r>
              <a:rPr dirty="0" sz="950" spc="32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0C0C0C"/>
                </a:solidFill>
                <a:latin typeface="Arial MT"/>
                <a:cs typeface="Arial MT"/>
              </a:rPr>
              <a:t>functionality.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351500" y="2432811"/>
            <a:ext cx="121094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0C0C0C"/>
                </a:solidFill>
                <a:latin typeface="Arial MT"/>
                <a:cs typeface="Arial MT"/>
              </a:rPr>
              <a:t>Save/Load</a:t>
            </a:r>
            <a:r>
              <a:rPr dirty="0" sz="1000" spc="4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0E0E0E"/>
                </a:solidFill>
                <a:latin typeface="Arial MT"/>
                <a:cs typeface="Arial MT"/>
              </a:rPr>
              <a:t>drawings.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350784" y="3521202"/>
            <a:ext cx="1020444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0F0F0F"/>
                </a:solidFill>
                <a:latin typeface="Arial MT"/>
                <a:cs typeface="Arial MT"/>
              </a:rPr>
              <a:t>Grouping</a:t>
            </a:r>
            <a:r>
              <a:rPr dirty="0" sz="950" spc="204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0C0C0C"/>
                </a:solidFill>
                <a:latin typeface="Arial MT"/>
                <a:cs typeface="Arial MT"/>
              </a:rPr>
              <a:t>shapes.</a:t>
            </a:r>
            <a:endParaRPr sz="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06665" y="0"/>
            <a:ext cx="1621332" cy="4572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 spc="-175">
                <a:solidFill>
                  <a:srgbClr val="282D6B"/>
                </a:solidFill>
              </a:rPr>
              <a:t>Questions</a:t>
            </a:r>
            <a:r>
              <a:rPr dirty="0" spc="-140">
                <a:solidFill>
                  <a:srgbClr val="282D6B"/>
                </a:solidFill>
              </a:rPr>
              <a:t> </a:t>
            </a:r>
            <a:r>
              <a:rPr dirty="0" spc="-270">
                <a:solidFill>
                  <a:srgbClr val="262D67"/>
                </a:solidFill>
              </a:rPr>
              <a:t>&amp;</a:t>
            </a:r>
            <a:r>
              <a:rPr dirty="0" spc="-355">
                <a:solidFill>
                  <a:srgbClr val="262D67"/>
                </a:solidFill>
              </a:rPr>
              <a:t> </a:t>
            </a:r>
            <a:r>
              <a:rPr dirty="0" spc="-155"/>
              <a:t>Discussion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3011204" y="3576828"/>
            <a:ext cx="302831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626262"/>
                </a:solidFill>
                <a:latin typeface="Arial MT"/>
                <a:cs typeface="Arial MT"/>
              </a:rPr>
              <a:t>Than</a:t>
            </a:r>
            <a:r>
              <a:rPr dirty="0" sz="800" spc="-150">
                <a:solidFill>
                  <a:srgbClr val="626262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46464"/>
                </a:solidFill>
                <a:latin typeface="Arial MT"/>
                <a:cs typeface="Arial MT"/>
              </a:rPr>
              <a:t>k</a:t>
            </a:r>
            <a:r>
              <a:rPr dirty="0" sz="800" spc="55">
                <a:solidFill>
                  <a:srgbClr val="64646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26262"/>
                </a:solidFill>
                <a:latin typeface="Arial MT"/>
                <a:cs typeface="Arial MT"/>
              </a:rPr>
              <a:t>you</a:t>
            </a:r>
            <a:r>
              <a:rPr dirty="0" sz="800" spc="75">
                <a:solidFill>
                  <a:srgbClr val="626262"/>
                </a:solidFill>
                <a:latin typeface="Arial MT"/>
                <a:cs typeface="Arial MT"/>
              </a:rPr>
              <a:t> </a:t>
            </a:r>
            <a:r>
              <a:rPr dirty="0" sz="800" i="1">
                <a:solidFill>
                  <a:srgbClr val="626262"/>
                </a:solidFill>
                <a:latin typeface="Arial"/>
                <a:cs typeface="Arial"/>
              </a:rPr>
              <a:t>Please</a:t>
            </a:r>
            <a:r>
              <a:rPr dirty="0" sz="800" spc="110" i="1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646464"/>
                </a:solidFill>
                <a:latin typeface="Arial"/>
                <a:cs typeface="Arial"/>
              </a:rPr>
              <a:t>leel</a:t>
            </a:r>
            <a:r>
              <a:rPr dirty="0" sz="800" spc="80" i="1">
                <a:solidFill>
                  <a:srgbClr val="64646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626262"/>
                </a:solidFill>
                <a:latin typeface="Arial"/>
                <a:cs typeface="Arial"/>
              </a:rPr>
              <a:t>Íree</a:t>
            </a:r>
            <a:r>
              <a:rPr dirty="0" sz="800" spc="95" i="1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646464"/>
                </a:solidFill>
                <a:latin typeface="Arial"/>
                <a:cs typeface="Arial"/>
              </a:rPr>
              <a:t>to</a:t>
            </a:r>
            <a:r>
              <a:rPr dirty="0" sz="800" spc="50" i="1">
                <a:solidFill>
                  <a:srgbClr val="64646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626262"/>
                </a:solidFill>
                <a:latin typeface="Arial"/>
                <a:cs typeface="Arial"/>
              </a:rPr>
              <a:t>ask</a:t>
            </a:r>
            <a:r>
              <a:rPr dirty="0" sz="800" spc="70" i="1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646464"/>
                </a:solidFill>
                <a:latin typeface="Arial"/>
                <a:cs typeface="Arial"/>
              </a:rPr>
              <a:t>any</a:t>
            </a:r>
            <a:r>
              <a:rPr dirty="0" sz="800" spc="50" i="1">
                <a:solidFill>
                  <a:srgbClr val="64646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626262"/>
                </a:solidFill>
                <a:latin typeface="Arial"/>
                <a:cs typeface="Arial"/>
              </a:rPr>
              <a:t>que</a:t>
            </a:r>
            <a:r>
              <a:rPr dirty="0" sz="800" i="1">
                <a:solidFill>
                  <a:srgbClr val="646464"/>
                </a:solidFill>
                <a:latin typeface="Arial"/>
                <a:cs typeface="Arial"/>
              </a:rPr>
              <a:t>s</a:t>
            </a:r>
            <a:r>
              <a:rPr dirty="0" sz="800" spc="-135" i="1">
                <a:solidFill>
                  <a:srgbClr val="64646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646464"/>
                </a:solidFill>
                <a:latin typeface="Arial"/>
                <a:cs typeface="Arial"/>
              </a:rPr>
              <a:t>tions</a:t>
            </a:r>
            <a:r>
              <a:rPr dirty="0" sz="800" spc="70" i="1">
                <a:solidFill>
                  <a:srgbClr val="64646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646464"/>
                </a:solidFill>
                <a:latin typeface="Arial"/>
                <a:cs typeface="Arial"/>
              </a:rPr>
              <a:t>you</a:t>
            </a:r>
            <a:r>
              <a:rPr dirty="0" sz="800" spc="45" i="1">
                <a:solidFill>
                  <a:srgbClr val="64646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626262"/>
                </a:solidFill>
                <a:latin typeface="Arial"/>
                <a:cs typeface="Arial"/>
              </a:rPr>
              <a:t>may</a:t>
            </a:r>
            <a:r>
              <a:rPr dirty="0" sz="800" spc="50" i="1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646464"/>
                </a:solidFill>
                <a:latin typeface="Arial"/>
                <a:cs typeface="Arial"/>
              </a:rPr>
              <a:t>have.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2025-07-14T14:20:58Z</dcterms:created>
  <dcterms:modified xsi:type="dcterms:W3CDTF">2025-07-14T14:20:58Z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2025-07-14T00:00:00Z</vt:filetime>
  </property>
  <property fmtid="{D5CDD505-2E9C-101B-9397-08002B2CF9AE}" pid="3" name="Producer">
    <vt:lpwstr>jsPDF 2.5.1</vt:lpwstr>
  </property>
  <property fmtid="{D5CDD505-2E9C-101B-9397-08002B2CF9AE}" pid="4" name="LastSaved">
    <vt:filetime>2025-07-14T00:00:00Z</vt:filetime>
  </property>
</Properties>
</file>